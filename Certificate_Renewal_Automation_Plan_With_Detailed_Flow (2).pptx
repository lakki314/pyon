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" y="896112"/>
            <a:ext cx="109728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2648" y="6528816"/>
            <a:ext cx="10972800" cy="0"/>
          </a:xfrm>
          <a:prstGeom prst="line">
            <a:avLst/>
          </a:prstGeom>
          <a:noFill/>
          <a:ln w="12700">
            <a:solidFill>
              <a:srgbClr val="E9EEF5"/>
            </a:solidFill>
            <a:prstDash val="solid"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1051560"/>
            <a:ext cx="43891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31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Certificate Renewal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1231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Automation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31520" y="2240280"/>
            <a:ext cx="4526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manual ticket-driven renewal to an end-to-end Ansible workflow for renewal, deployment, validation, reporting, and closure.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49808" y="3337560"/>
            <a:ext cx="1051560" cy="256032"/>
          </a:xfrm>
          <a:prstGeom prst="roundRect">
            <a:avLst>
              <a:gd name="adj" fmla="val 17857"/>
            </a:avLst>
          </a:prstGeom>
          <a:solidFill>
            <a:srgbClr val="EDF4FB"/>
          </a:solidFill>
          <a:ln w="12700">
            <a:solidFill>
              <a:srgbClr val="EDF4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3392424"/>
            <a:ext cx="9418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2441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Venafi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1874520" y="3337560"/>
            <a:ext cx="1325880" cy="256032"/>
          </a:xfrm>
          <a:prstGeom prst="roundRect">
            <a:avLst>
              <a:gd name="adj" fmla="val 17857"/>
            </a:avLst>
          </a:prstGeom>
          <a:solidFill>
            <a:srgbClr val="EDF4FB"/>
          </a:solidFill>
          <a:ln w="12700">
            <a:solidFill>
              <a:srgbClr val="EDF4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29384" y="3392424"/>
            <a:ext cx="12161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2441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ServiceNow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3291840" y="3337560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EAF7F0"/>
          </a:solidFill>
          <a:ln w="12700">
            <a:solidFill>
              <a:srgbClr val="EAF7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46704" y="3392424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1F7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Ansible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731520" y="4572000"/>
            <a:ext cx="443484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7780" dist="5715" dir="27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60120" y="477316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changes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5010912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dirty="0">
                <a:solidFill>
                  <a:srgbClr val="425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handoffs are replaced by a single orchestrated flow with built-in change handling and deployment validation.</a:t>
            </a:r>
            <a:endParaRPr lang="en-US" sz="1330" dirty="0"/>
          </a:p>
        </p:txBody>
      </p:sp>
      <p:pic>
        <p:nvPicPr>
          <p:cNvPr id="13" name="Image 0" descr="/mnt/data/a_3d_rendered_digital_illustration_in_a_modern_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1554480"/>
            <a:ext cx="5897880" cy="39319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446520" y="5577840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process on the left, automated operating model on the right</a:t>
            </a:r>
            <a:endParaRPr lang="en-US" sz="12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43891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31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Before vs after process flow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172200" y="466344"/>
            <a:ext cx="5440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objective, very different operating model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4983480" cy="5230368"/>
          </a:xfrm>
          <a:prstGeom prst="roundRect">
            <a:avLst>
              <a:gd name="adj" fmla="val 1468"/>
            </a:avLst>
          </a:prstGeom>
          <a:solidFill>
            <a:srgbClr val="FFFDFD"/>
          </a:solidFill>
          <a:ln w="12700">
            <a:solidFill>
              <a:srgbClr val="E5EB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93408" y="1143000"/>
            <a:ext cx="4983480" cy="5230368"/>
          </a:xfrm>
          <a:prstGeom prst="roundRect">
            <a:avLst>
              <a:gd name="adj" fmla="val 1468"/>
            </a:avLst>
          </a:prstGeom>
          <a:solidFill>
            <a:srgbClr val="FCFFFD"/>
          </a:solidFill>
          <a:ln w="12700">
            <a:solidFill>
              <a:srgbClr val="E5EB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1325880"/>
            <a:ext cx="1298448" cy="329184"/>
          </a:xfrm>
          <a:prstGeom prst="roundRect">
            <a:avLst>
              <a:gd name="adj" fmla="val 13889"/>
            </a:avLst>
          </a:prstGeom>
          <a:solidFill>
            <a:srgbClr val="AE3B3B"/>
          </a:solidFill>
          <a:ln w="12700">
            <a:solidFill>
              <a:srgbClr val="AE3B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1371600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</a:t>
            </a:r>
            <a:endParaRPr lang="en-US" sz="1310" dirty="0"/>
          </a:p>
        </p:txBody>
      </p:sp>
      <p:sp>
        <p:nvSpPr>
          <p:cNvPr id="8" name="Text 6"/>
          <p:cNvSpPr/>
          <p:nvPr/>
        </p:nvSpPr>
        <p:spPr>
          <a:xfrm>
            <a:off x="2267712" y="1325880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Human-triggered flow with manual requests, waits, and deployment steps</a:t>
            </a:r>
            <a:endParaRPr lang="en-US" sz="1240" dirty="0"/>
          </a:p>
        </p:txBody>
      </p:sp>
      <p:sp>
        <p:nvSpPr>
          <p:cNvPr id="9" name="Shape 7"/>
          <p:cNvSpPr/>
          <p:nvPr/>
        </p:nvSpPr>
        <p:spPr>
          <a:xfrm>
            <a:off x="6976872" y="1325880"/>
            <a:ext cx="1078992" cy="329184"/>
          </a:xfrm>
          <a:prstGeom prst="roundRect">
            <a:avLst>
              <a:gd name="adj" fmla="val 13889"/>
            </a:avLst>
          </a:prstGeom>
          <a:solidFill>
            <a:srgbClr val="1F7A57"/>
          </a:solidFill>
          <a:ln w="12700">
            <a:solidFill>
              <a:srgbClr val="1F7A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76872" y="1371600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</a:t>
            </a:r>
            <a:endParaRPr lang="en-US" sz="1310" dirty="0"/>
          </a:p>
        </p:txBody>
      </p:sp>
      <p:sp>
        <p:nvSpPr>
          <p:cNvPr id="11" name="Text 9"/>
          <p:cNvSpPr/>
          <p:nvPr/>
        </p:nvSpPr>
        <p:spPr>
          <a:xfrm>
            <a:off x="8211312" y="132588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Ansible-driven flow with renewal, deployment, validation, and closure in one chain</a:t>
            </a:r>
            <a:endParaRPr lang="en-US" sz="1240" dirty="0"/>
          </a:p>
        </p:txBody>
      </p:sp>
      <p:sp>
        <p:nvSpPr>
          <p:cNvPr id="12" name="Shape 10"/>
          <p:cNvSpPr/>
          <p:nvPr/>
        </p:nvSpPr>
        <p:spPr>
          <a:xfrm>
            <a:off x="2994660" y="2331720"/>
            <a:ext cx="0" cy="77724"/>
          </a:xfrm>
          <a:prstGeom prst="line">
            <a:avLst/>
          </a:prstGeom>
          <a:noFill/>
          <a:ln w="27940">
            <a:solidFill>
              <a:srgbClr val="AE3B3B">
                <a:alpha val="88000"/>
              </a:srgbClr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994660" y="2958084"/>
            <a:ext cx="0" cy="77724"/>
          </a:xfrm>
          <a:prstGeom prst="line">
            <a:avLst/>
          </a:prstGeom>
          <a:noFill/>
          <a:ln w="27940">
            <a:solidFill>
              <a:srgbClr val="AE3B3B">
                <a:alpha val="88000"/>
              </a:srgbClr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994660" y="3584448"/>
            <a:ext cx="0" cy="77724"/>
          </a:xfrm>
          <a:prstGeom prst="line">
            <a:avLst/>
          </a:prstGeom>
          <a:noFill/>
          <a:ln w="27940">
            <a:solidFill>
              <a:srgbClr val="AE3B3B">
                <a:alpha val="88000"/>
              </a:srgbClr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994660" y="4210812"/>
            <a:ext cx="0" cy="77724"/>
          </a:xfrm>
          <a:prstGeom prst="line">
            <a:avLst/>
          </a:prstGeom>
          <a:noFill/>
          <a:ln w="27940">
            <a:solidFill>
              <a:srgbClr val="AE3B3B">
                <a:alpha val="88000"/>
              </a:srgbClr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994660" y="4837176"/>
            <a:ext cx="0" cy="77724"/>
          </a:xfrm>
          <a:prstGeom prst="line">
            <a:avLst/>
          </a:prstGeom>
          <a:noFill/>
          <a:ln w="27940">
            <a:solidFill>
              <a:srgbClr val="AE3B3B">
                <a:alpha val="88000"/>
              </a:srgbClr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185148" y="2148840"/>
            <a:ext cx="0" cy="59436"/>
          </a:xfrm>
          <a:prstGeom prst="line">
            <a:avLst/>
          </a:prstGeom>
          <a:noFill/>
          <a:ln w="25400">
            <a:solidFill>
              <a:srgbClr val="1F7A57">
                <a:alpha val="88000"/>
              </a:srgbClr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185148" y="2601468"/>
            <a:ext cx="0" cy="59436"/>
          </a:xfrm>
          <a:prstGeom prst="line">
            <a:avLst/>
          </a:prstGeom>
          <a:noFill/>
          <a:ln w="25400">
            <a:solidFill>
              <a:srgbClr val="1F7A57">
                <a:alpha val="88000"/>
              </a:srgbClr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185148" y="3054096"/>
            <a:ext cx="0" cy="59436"/>
          </a:xfrm>
          <a:prstGeom prst="line">
            <a:avLst/>
          </a:prstGeom>
          <a:noFill/>
          <a:ln w="25400">
            <a:solidFill>
              <a:srgbClr val="1F7A57">
                <a:alpha val="88000"/>
              </a:srgbClr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185148" y="3506724"/>
            <a:ext cx="0" cy="59436"/>
          </a:xfrm>
          <a:prstGeom prst="line">
            <a:avLst/>
          </a:prstGeom>
          <a:noFill/>
          <a:ln w="25400">
            <a:solidFill>
              <a:srgbClr val="1F7A57">
                <a:alpha val="88000"/>
              </a:srgbClr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185148" y="3959352"/>
            <a:ext cx="0" cy="59436"/>
          </a:xfrm>
          <a:prstGeom prst="line">
            <a:avLst/>
          </a:prstGeom>
          <a:noFill/>
          <a:ln w="25400">
            <a:solidFill>
              <a:srgbClr val="1F7A57">
                <a:alpha val="88000"/>
              </a:srgbClr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185148" y="4411980"/>
            <a:ext cx="0" cy="59436"/>
          </a:xfrm>
          <a:prstGeom prst="line">
            <a:avLst/>
          </a:prstGeom>
          <a:noFill/>
          <a:ln w="25400">
            <a:solidFill>
              <a:srgbClr val="1F7A57">
                <a:alpha val="88000"/>
              </a:srgbClr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185148" y="4864608"/>
            <a:ext cx="0" cy="59436"/>
          </a:xfrm>
          <a:prstGeom prst="line">
            <a:avLst/>
          </a:prstGeom>
          <a:noFill/>
          <a:ln w="25400">
            <a:solidFill>
              <a:srgbClr val="1F7A57">
                <a:alpha val="88000"/>
              </a:srgbClr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86384" y="1783080"/>
            <a:ext cx="4416552" cy="539496"/>
          </a:xfrm>
          <a:prstGeom prst="roundRect">
            <a:avLst>
              <a:gd name="adj" fmla="val 8475"/>
            </a:avLst>
          </a:prstGeom>
          <a:solidFill>
            <a:srgbClr val="FCEBEC"/>
          </a:solidFill>
          <a:ln w="15875">
            <a:solidFill>
              <a:srgbClr val="E6B6B8"/>
            </a:solidFill>
            <a:prstDash val="solid"/>
          </a:ln>
          <a:effectLst>
            <a:outerShdw sx="100000" sy="100000" kx="0" ky="0" algn="bl" rotWithShape="0" blurRad="15240" dist="4445" dir="27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23544" y="1915668"/>
            <a:ext cx="274320" cy="274320"/>
          </a:xfrm>
          <a:prstGeom prst="ellipse">
            <a:avLst/>
          </a:prstGeom>
          <a:solidFill>
            <a:srgbClr val="AE3B3B"/>
          </a:solidFill>
          <a:ln w="12700">
            <a:solidFill>
              <a:srgbClr val="AE3B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3544" y="197053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289304" y="1819656"/>
            <a:ext cx="37947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10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Expiry notification received</a:t>
            </a:r>
            <a:endParaRPr lang="en-US" sz="1410" dirty="0"/>
          </a:p>
        </p:txBody>
      </p:sp>
      <p:sp>
        <p:nvSpPr>
          <p:cNvPr id="28" name="Shape 26"/>
          <p:cNvSpPr/>
          <p:nvPr/>
        </p:nvSpPr>
        <p:spPr>
          <a:xfrm>
            <a:off x="786384" y="2409444"/>
            <a:ext cx="4416552" cy="539496"/>
          </a:xfrm>
          <a:prstGeom prst="roundRect">
            <a:avLst>
              <a:gd name="adj" fmla="val 8475"/>
            </a:avLst>
          </a:prstGeom>
          <a:solidFill>
            <a:srgbClr val="FCEBEC"/>
          </a:solidFill>
          <a:ln w="15875">
            <a:solidFill>
              <a:srgbClr val="E6B6B8"/>
            </a:solidFill>
            <a:prstDash val="solid"/>
          </a:ln>
          <a:effectLst>
            <a:outerShdw sx="100000" sy="100000" kx="0" ky="0" algn="bl" rotWithShape="0" blurRad="15240" dist="4445" dir="27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23544" y="2542032"/>
            <a:ext cx="274320" cy="274320"/>
          </a:xfrm>
          <a:prstGeom prst="ellipse">
            <a:avLst/>
          </a:prstGeom>
          <a:solidFill>
            <a:srgbClr val="AE3B3B"/>
          </a:solidFill>
          <a:ln w="12700">
            <a:solidFill>
              <a:srgbClr val="AE3B3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23544" y="259689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289304" y="2446020"/>
            <a:ext cx="37947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10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Raise ServiceNow request to certificate management</a:t>
            </a:r>
            <a:endParaRPr lang="en-US" sz="1410" dirty="0"/>
          </a:p>
        </p:txBody>
      </p:sp>
      <p:sp>
        <p:nvSpPr>
          <p:cNvPr id="32" name="Shape 30"/>
          <p:cNvSpPr/>
          <p:nvPr/>
        </p:nvSpPr>
        <p:spPr>
          <a:xfrm>
            <a:off x="786384" y="3035808"/>
            <a:ext cx="4416552" cy="539496"/>
          </a:xfrm>
          <a:prstGeom prst="roundRect">
            <a:avLst>
              <a:gd name="adj" fmla="val 8475"/>
            </a:avLst>
          </a:prstGeom>
          <a:solidFill>
            <a:srgbClr val="FCEBEC"/>
          </a:solidFill>
          <a:ln w="15875">
            <a:solidFill>
              <a:srgbClr val="E6B6B8"/>
            </a:solidFill>
            <a:prstDash val="solid"/>
          </a:ln>
          <a:effectLst>
            <a:outerShdw sx="100000" sy="100000" kx="0" ky="0" algn="bl" rotWithShape="0" blurRad="15240" dist="4445" dir="27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23544" y="3168396"/>
            <a:ext cx="274320" cy="274320"/>
          </a:xfrm>
          <a:prstGeom prst="ellipse">
            <a:avLst/>
          </a:prstGeom>
          <a:solidFill>
            <a:srgbClr val="AE3B3B"/>
          </a:solidFill>
          <a:ln w="12700">
            <a:solidFill>
              <a:srgbClr val="AE3B3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23544" y="32232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289304" y="3072384"/>
            <a:ext cx="37947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10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RenewNow in Venafi</a:t>
            </a:r>
            <a:endParaRPr lang="en-US" sz="1410" dirty="0"/>
          </a:p>
        </p:txBody>
      </p:sp>
      <p:sp>
        <p:nvSpPr>
          <p:cNvPr id="36" name="Shape 34"/>
          <p:cNvSpPr/>
          <p:nvPr/>
        </p:nvSpPr>
        <p:spPr>
          <a:xfrm>
            <a:off x="786384" y="3662172"/>
            <a:ext cx="4416552" cy="539496"/>
          </a:xfrm>
          <a:prstGeom prst="roundRect">
            <a:avLst>
              <a:gd name="adj" fmla="val 8475"/>
            </a:avLst>
          </a:prstGeom>
          <a:solidFill>
            <a:srgbClr val="FCEBEC"/>
          </a:solidFill>
          <a:ln w="15875">
            <a:solidFill>
              <a:srgbClr val="E6B6B8"/>
            </a:solidFill>
            <a:prstDash val="solid"/>
          </a:ln>
          <a:effectLst>
            <a:outerShdw sx="100000" sy="100000" kx="0" ky="0" algn="bl" rotWithShape="0" blurRad="15240" dist="4445" dir="27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923544" y="3794760"/>
            <a:ext cx="274320" cy="274320"/>
          </a:xfrm>
          <a:prstGeom prst="ellipse">
            <a:avLst/>
          </a:prstGeom>
          <a:solidFill>
            <a:srgbClr val="AE3B3B"/>
          </a:solidFill>
          <a:ln w="12700">
            <a:solidFill>
              <a:srgbClr val="AE3B3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23544" y="384962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289304" y="3698748"/>
            <a:ext cx="37947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10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Wait for renewal ticket completion</a:t>
            </a:r>
            <a:endParaRPr lang="en-US" sz="1410" dirty="0"/>
          </a:p>
        </p:txBody>
      </p:sp>
      <p:sp>
        <p:nvSpPr>
          <p:cNvPr id="40" name="Shape 38"/>
          <p:cNvSpPr/>
          <p:nvPr/>
        </p:nvSpPr>
        <p:spPr>
          <a:xfrm>
            <a:off x="786384" y="4288536"/>
            <a:ext cx="4416552" cy="539496"/>
          </a:xfrm>
          <a:prstGeom prst="roundRect">
            <a:avLst>
              <a:gd name="adj" fmla="val 8475"/>
            </a:avLst>
          </a:prstGeom>
          <a:solidFill>
            <a:srgbClr val="FCEBEC"/>
          </a:solidFill>
          <a:ln w="15875">
            <a:solidFill>
              <a:srgbClr val="E6B6B8"/>
            </a:solidFill>
            <a:prstDash val="solid"/>
          </a:ln>
          <a:effectLst>
            <a:outerShdw sx="100000" sy="100000" kx="0" ky="0" algn="bl" rotWithShape="0" blurRad="15240" dist="4445" dir="27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923544" y="4421124"/>
            <a:ext cx="274320" cy="274320"/>
          </a:xfrm>
          <a:prstGeom prst="ellipse">
            <a:avLst/>
          </a:prstGeom>
          <a:solidFill>
            <a:srgbClr val="AE3B3B"/>
          </a:solidFill>
          <a:ln w="12700">
            <a:solidFill>
              <a:srgbClr val="AE3B3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23544" y="447598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1289304" y="4325112"/>
            <a:ext cx="37947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10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Raise release/change for non-prod or prod deployment</a:t>
            </a:r>
            <a:endParaRPr lang="en-US" sz="1410" dirty="0"/>
          </a:p>
        </p:txBody>
      </p:sp>
      <p:sp>
        <p:nvSpPr>
          <p:cNvPr id="44" name="Shape 42"/>
          <p:cNvSpPr/>
          <p:nvPr/>
        </p:nvSpPr>
        <p:spPr>
          <a:xfrm>
            <a:off x="786384" y="4914900"/>
            <a:ext cx="4416552" cy="539496"/>
          </a:xfrm>
          <a:prstGeom prst="roundRect">
            <a:avLst>
              <a:gd name="adj" fmla="val 8475"/>
            </a:avLst>
          </a:prstGeom>
          <a:solidFill>
            <a:srgbClr val="FCEBEC"/>
          </a:solidFill>
          <a:ln w="15875">
            <a:solidFill>
              <a:srgbClr val="E6B6B8"/>
            </a:solidFill>
            <a:prstDash val="solid"/>
          </a:ln>
          <a:effectLst>
            <a:outerShdw sx="100000" sy="100000" kx="0" ky="0" algn="bl" rotWithShape="0" blurRad="15240" dist="4445" dir="27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923544" y="5047488"/>
            <a:ext cx="274320" cy="274320"/>
          </a:xfrm>
          <a:prstGeom prst="ellipse">
            <a:avLst/>
          </a:prstGeom>
          <a:solidFill>
            <a:srgbClr val="AE3B3B"/>
          </a:solidFill>
          <a:ln w="12700">
            <a:solidFill>
              <a:srgbClr val="AE3B3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23544" y="510235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1289304" y="4951476"/>
            <a:ext cx="37947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10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Install in Venafi to deploy to web servers</a:t>
            </a:r>
            <a:endParaRPr lang="en-US" sz="1410" dirty="0"/>
          </a:p>
        </p:txBody>
      </p:sp>
      <p:sp>
        <p:nvSpPr>
          <p:cNvPr id="48" name="Shape 46"/>
          <p:cNvSpPr/>
          <p:nvPr/>
        </p:nvSpPr>
        <p:spPr>
          <a:xfrm>
            <a:off x="6976872" y="1755648"/>
            <a:ext cx="4416552" cy="388620"/>
          </a:xfrm>
          <a:prstGeom prst="roundRect">
            <a:avLst>
              <a:gd name="adj" fmla="val 11765"/>
            </a:avLst>
          </a:prstGeom>
          <a:solidFill>
            <a:srgbClr val="EAF7F0"/>
          </a:solidFill>
          <a:ln w="15875">
            <a:solidFill>
              <a:srgbClr val="B8E0C7"/>
            </a:solidFill>
            <a:prstDash val="solid"/>
          </a:ln>
          <a:effectLst>
            <a:outerShdw sx="100000" sy="100000" kx="0" ky="0" algn="bl" rotWithShape="0" blurRad="15240" dist="4445" dir="2700000">
              <a:srgbClr val="000000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7114032" y="1812798"/>
            <a:ext cx="274320" cy="274320"/>
          </a:xfrm>
          <a:prstGeom prst="ellipse">
            <a:avLst/>
          </a:prstGeom>
          <a:solidFill>
            <a:srgbClr val="1F7A57"/>
          </a:solidFill>
          <a:ln w="12700">
            <a:solidFill>
              <a:srgbClr val="1F7A5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114032" y="186766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7479792" y="1792224"/>
            <a:ext cx="37947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Ansible checks expiry in Venafi</a:t>
            </a:r>
            <a:endParaRPr lang="en-US" sz="1320" dirty="0"/>
          </a:p>
        </p:txBody>
      </p:sp>
      <p:sp>
        <p:nvSpPr>
          <p:cNvPr id="52" name="Shape 50"/>
          <p:cNvSpPr/>
          <p:nvPr/>
        </p:nvSpPr>
        <p:spPr>
          <a:xfrm>
            <a:off x="6976872" y="2208276"/>
            <a:ext cx="4416552" cy="388620"/>
          </a:xfrm>
          <a:prstGeom prst="roundRect">
            <a:avLst>
              <a:gd name="adj" fmla="val 11765"/>
            </a:avLst>
          </a:prstGeom>
          <a:solidFill>
            <a:srgbClr val="EAF7F0"/>
          </a:solidFill>
          <a:ln w="15875">
            <a:solidFill>
              <a:srgbClr val="B8E0C7"/>
            </a:solidFill>
            <a:prstDash val="solid"/>
          </a:ln>
          <a:effectLst>
            <a:outerShdw sx="100000" sy="100000" kx="0" ky="0" algn="bl" rotWithShape="0" blurRad="15240" dist="4445" dir="2700000">
              <a:srgbClr val="000000">
                <a:alpha val="1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7114032" y="2265426"/>
            <a:ext cx="274320" cy="274320"/>
          </a:xfrm>
          <a:prstGeom prst="ellipse">
            <a:avLst/>
          </a:prstGeom>
          <a:solidFill>
            <a:srgbClr val="1F7A57"/>
          </a:solidFill>
          <a:ln w="12700">
            <a:solidFill>
              <a:srgbClr val="1F7A5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114032" y="232029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7479792" y="2244852"/>
            <a:ext cx="37947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Creates change in ServiceNow</a:t>
            </a:r>
            <a:endParaRPr lang="en-US" sz="1320" dirty="0"/>
          </a:p>
        </p:txBody>
      </p:sp>
      <p:sp>
        <p:nvSpPr>
          <p:cNvPr id="56" name="Shape 54"/>
          <p:cNvSpPr/>
          <p:nvPr/>
        </p:nvSpPr>
        <p:spPr>
          <a:xfrm>
            <a:off x="6976872" y="2660904"/>
            <a:ext cx="4416552" cy="388620"/>
          </a:xfrm>
          <a:prstGeom prst="roundRect">
            <a:avLst>
              <a:gd name="adj" fmla="val 11765"/>
            </a:avLst>
          </a:prstGeom>
          <a:solidFill>
            <a:srgbClr val="EAF7F0"/>
          </a:solidFill>
          <a:ln w="15875">
            <a:solidFill>
              <a:srgbClr val="B8E0C7"/>
            </a:solidFill>
            <a:prstDash val="solid"/>
          </a:ln>
          <a:effectLst>
            <a:outerShdw sx="100000" sy="100000" kx="0" ky="0" algn="bl" rotWithShape="0" blurRad="15240" dist="4445" dir="2700000">
              <a:srgbClr val="000000">
                <a:alpha val="1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7114032" y="2718054"/>
            <a:ext cx="274320" cy="274320"/>
          </a:xfrm>
          <a:prstGeom prst="ellipse">
            <a:avLst/>
          </a:prstGeom>
          <a:solidFill>
            <a:srgbClr val="1F7A57"/>
          </a:solidFill>
          <a:ln w="12700">
            <a:solidFill>
              <a:srgbClr val="1F7A5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114032" y="277291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7479792" y="2697480"/>
            <a:ext cx="37947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Implements change in ServiceNow</a:t>
            </a:r>
            <a:endParaRPr lang="en-US" sz="1320" dirty="0"/>
          </a:p>
        </p:txBody>
      </p:sp>
      <p:sp>
        <p:nvSpPr>
          <p:cNvPr id="60" name="Shape 58"/>
          <p:cNvSpPr/>
          <p:nvPr/>
        </p:nvSpPr>
        <p:spPr>
          <a:xfrm>
            <a:off x="6976872" y="3113532"/>
            <a:ext cx="4416552" cy="388620"/>
          </a:xfrm>
          <a:prstGeom prst="roundRect">
            <a:avLst>
              <a:gd name="adj" fmla="val 11765"/>
            </a:avLst>
          </a:prstGeom>
          <a:solidFill>
            <a:srgbClr val="EAF7F0"/>
          </a:solidFill>
          <a:ln w="15875">
            <a:solidFill>
              <a:srgbClr val="B8E0C7"/>
            </a:solidFill>
            <a:prstDash val="solid"/>
          </a:ln>
          <a:effectLst>
            <a:outerShdw sx="100000" sy="100000" kx="0" ky="0" algn="bl" rotWithShape="0" blurRad="15240" dist="4445" dir="2700000">
              <a:srgbClr val="000000">
                <a:alpha val="1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7114032" y="3170682"/>
            <a:ext cx="274320" cy="274320"/>
          </a:xfrm>
          <a:prstGeom prst="ellipse">
            <a:avLst/>
          </a:prstGeom>
          <a:solidFill>
            <a:srgbClr val="1F7A57"/>
          </a:solidFill>
          <a:ln w="12700">
            <a:solidFill>
              <a:srgbClr val="1F7A5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114032" y="322554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7479792" y="3150108"/>
            <a:ext cx="37947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Renews certificate with vcertCli</a:t>
            </a:r>
            <a:endParaRPr lang="en-US" sz="1320" dirty="0"/>
          </a:p>
        </p:txBody>
      </p:sp>
      <p:sp>
        <p:nvSpPr>
          <p:cNvPr id="64" name="Shape 62"/>
          <p:cNvSpPr/>
          <p:nvPr/>
        </p:nvSpPr>
        <p:spPr>
          <a:xfrm>
            <a:off x="6976872" y="3566160"/>
            <a:ext cx="4416552" cy="388620"/>
          </a:xfrm>
          <a:prstGeom prst="roundRect">
            <a:avLst>
              <a:gd name="adj" fmla="val 11765"/>
            </a:avLst>
          </a:prstGeom>
          <a:solidFill>
            <a:srgbClr val="EAF7F0"/>
          </a:solidFill>
          <a:ln w="15875">
            <a:solidFill>
              <a:srgbClr val="B8E0C7"/>
            </a:solidFill>
            <a:prstDash val="solid"/>
          </a:ln>
          <a:effectLst>
            <a:outerShdw sx="100000" sy="100000" kx="0" ky="0" algn="bl" rotWithShape="0" blurRad="15240" dist="4445" dir="2700000">
              <a:srgbClr val="000000">
                <a:alpha val="10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7114032" y="3623310"/>
            <a:ext cx="274320" cy="274320"/>
          </a:xfrm>
          <a:prstGeom prst="ellipse">
            <a:avLst/>
          </a:prstGeom>
          <a:solidFill>
            <a:srgbClr val="1F7A57"/>
          </a:solidFill>
          <a:ln w="12700">
            <a:solidFill>
              <a:srgbClr val="1F7A5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114032" y="367817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7479792" y="3602736"/>
            <a:ext cx="37947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Downloads certificate and deploys to target hostnames</a:t>
            </a:r>
            <a:endParaRPr lang="en-US" sz="1320" dirty="0"/>
          </a:p>
        </p:txBody>
      </p:sp>
      <p:sp>
        <p:nvSpPr>
          <p:cNvPr id="68" name="Shape 66"/>
          <p:cNvSpPr/>
          <p:nvPr/>
        </p:nvSpPr>
        <p:spPr>
          <a:xfrm>
            <a:off x="6976872" y="4018788"/>
            <a:ext cx="4416552" cy="388620"/>
          </a:xfrm>
          <a:prstGeom prst="roundRect">
            <a:avLst>
              <a:gd name="adj" fmla="val 11765"/>
            </a:avLst>
          </a:prstGeom>
          <a:solidFill>
            <a:srgbClr val="EAF7F0"/>
          </a:solidFill>
          <a:ln w="15875">
            <a:solidFill>
              <a:srgbClr val="B8E0C7"/>
            </a:solidFill>
            <a:prstDash val="solid"/>
          </a:ln>
          <a:effectLst>
            <a:outerShdw sx="100000" sy="100000" kx="0" ky="0" algn="bl" rotWithShape="0" blurRad="15240" dist="4445" dir="2700000">
              <a:srgbClr val="000000">
                <a:alpha val="10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7114032" y="4075938"/>
            <a:ext cx="274320" cy="274320"/>
          </a:xfrm>
          <a:prstGeom prst="ellipse">
            <a:avLst/>
          </a:prstGeom>
          <a:solidFill>
            <a:srgbClr val="1F7A57"/>
          </a:solidFill>
          <a:ln w="12700">
            <a:solidFill>
              <a:srgbClr val="1F7A57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114032" y="413080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050" dirty="0"/>
          </a:p>
        </p:txBody>
      </p:sp>
      <p:sp>
        <p:nvSpPr>
          <p:cNvPr id="71" name="Text 69"/>
          <p:cNvSpPr/>
          <p:nvPr/>
        </p:nvSpPr>
        <p:spPr>
          <a:xfrm>
            <a:off x="7479792" y="4055364"/>
            <a:ext cx="37947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Deploys to web servers and validates</a:t>
            </a:r>
            <a:endParaRPr lang="en-US" sz="1320" dirty="0"/>
          </a:p>
        </p:txBody>
      </p:sp>
      <p:sp>
        <p:nvSpPr>
          <p:cNvPr id="72" name="Shape 70"/>
          <p:cNvSpPr/>
          <p:nvPr/>
        </p:nvSpPr>
        <p:spPr>
          <a:xfrm>
            <a:off x="6976872" y="4471416"/>
            <a:ext cx="4416552" cy="388620"/>
          </a:xfrm>
          <a:prstGeom prst="roundRect">
            <a:avLst>
              <a:gd name="adj" fmla="val 11765"/>
            </a:avLst>
          </a:prstGeom>
          <a:solidFill>
            <a:srgbClr val="EAF7F0"/>
          </a:solidFill>
          <a:ln w="15875">
            <a:solidFill>
              <a:srgbClr val="B8E0C7"/>
            </a:solidFill>
            <a:prstDash val="solid"/>
          </a:ln>
          <a:effectLst>
            <a:outerShdw sx="100000" sy="100000" kx="0" ky="0" algn="bl" rotWithShape="0" blurRad="15240" dist="4445" dir="2700000">
              <a:srgbClr val="000000">
                <a:alpha val="10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7114032" y="4528566"/>
            <a:ext cx="274320" cy="274320"/>
          </a:xfrm>
          <a:prstGeom prst="ellipse">
            <a:avLst/>
          </a:prstGeom>
          <a:solidFill>
            <a:srgbClr val="1F7A57"/>
          </a:solidFill>
          <a:ln w="12700">
            <a:solidFill>
              <a:srgbClr val="1F7A57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114032" y="458343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050" dirty="0"/>
          </a:p>
        </p:txBody>
      </p:sp>
      <p:sp>
        <p:nvSpPr>
          <p:cNvPr id="75" name="Text 73"/>
          <p:cNvSpPr/>
          <p:nvPr/>
        </p:nvSpPr>
        <p:spPr>
          <a:xfrm>
            <a:off x="7479792" y="4507992"/>
            <a:ext cx="37947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Sends deployment report</a:t>
            </a:r>
            <a:endParaRPr lang="en-US" sz="1320" dirty="0"/>
          </a:p>
        </p:txBody>
      </p:sp>
      <p:sp>
        <p:nvSpPr>
          <p:cNvPr id="76" name="Shape 74"/>
          <p:cNvSpPr/>
          <p:nvPr/>
        </p:nvSpPr>
        <p:spPr>
          <a:xfrm>
            <a:off x="6976872" y="4924044"/>
            <a:ext cx="4416552" cy="388620"/>
          </a:xfrm>
          <a:prstGeom prst="roundRect">
            <a:avLst>
              <a:gd name="adj" fmla="val 11765"/>
            </a:avLst>
          </a:prstGeom>
          <a:solidFill>
            <a:srgbClr val="EAF7F0"/>
          </a:solidFill>
          <a:ln w="15875">
            <a:solidFill>
              <a:srgbClr val="B8E0C7"/>
            </a:solidFill>
            <a:prstDash val="solid"/>
          </a:ln>
          <a:effectLst>
            <a:outerShdw sx="100000" sy="100000" kx="0" ky="0" algn="bl" rotWithShape="0" blurRad="15240" dist="4445" dir="2700000">
              <a:srgbClr val="000000">
                <a:alpha val="10000"/>
              </a:srgbClr>
            </a:outerShdw>
          </a:effectLst>
        </p:spPr>
      </p:sp>
      <p:sp>
        <p:nvSpPr>
          <p:cNvPr id="77" name="Shape 75"/>
          <p:cNvSpPr/>
          <p:nvPr/>
        </p:nvSpPr>
        <p:spPr>
          <a:xfrm>
            <a:off x="7114032" y="4981194"/>
            <a:ext cx="274320" cy="274320"/>
          </a:xfrm>
          <a:prstGeom prst="ellipse">
            <a:avLst/>
          </a:prstGeom>
          <a:solidFill>
            <a:srgbClr val="1F7A57"/>
          </a:solidFill>
          <a:ln w="12700">
            <a:solidFill>
              <a:srgbClr val="1F7A57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114032" y="503605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050" dirty="0"/>
          </a:p>
        </p:txBody>
      </p:sp>
      <p:sp>
        <p:nvSpPr>
          <p:cNvPr id="79" name="Text 77"/>
          <p:cNvSpPr/>
          <p:nvPr/>
        </p:nvSpPr>
        <p:spPr>
          <a:xfrm>
            <a:off x="7479792" y="4960620"/>
            <a:ext cx="37947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Closes ServiceNow change</a:t>
            </a:r>
            <a:endParaRPr lang="en-US" sz="1320" dirty="0"/>
          </a:p>
        </p:txBody>
      </p:sp>
      <p:sp>
        <p:nvSpPr>
          <p:cNvPr id="80" name="Shape 78"/>
          <p:cNvSpPr/>
          <p:nvPr/>
        </p:nvSpPr>
        <p:spPr>
          <a:xfrm>
            <a:off x="5623560" y="2999232"/>
            <a:ext cx="822960" cy="475488"/>
          </a:xfrm>
          <a:prstGeom prst="chevron">
            <a:avLst/>
          </a:prstGeom>
          <a:solidFill>
            <a:srgbClr val="EDF4FB"/>
          </a:solidFill>
          <a:ln w="12700">
            <a:solidFill>
              <a:srgbClr val="C7D7EA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623560" y="3145536"/>
            <a:ext cx="8046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2441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</a:t>
            </a:r>
            <a:endParaRPr lang="en-US" sz="1080" dirty="0"/>
          </a:p>
        </p:txBody>
      </p:sp>
      <p:sp>
        <p:nvSpPr>
          <p:cNvPr id="82" name="Shape 80"/>
          <p:cNvSpPr/>
          <p:nvPr/>
        </p:nvSpPr>
        <p:spPr>
          <a:xfrm>
            <a:off x="868680" y="5989320"/>
            <a:ext cx="4251960" cy="256032"/>
          </a:xfrm>
          <a:prstGeom prst="roundRect">
            <a:avLst>
              <a:gd name="adj" fmla="val 17857"/>
            </a:avLst>
          </a:prstGeom>
          <a:solidFill>
            <a:srgbClr val="F9E1E1"/>
          </a:solidFill>
          <a:ln w="12700">
            <a:solidFill>
              <a:srgbClr val="F9E1E1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923544" y="6044184"/>
            <a:ext cx="41422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7A2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manual touchpoints with multiple handoffs and waiting periods</a:t>
            </a:r>
            <a:endParaRPr lang="en-US" sz="1080" dirty="0"/>
          </a:p>
        </p:txBody>
      </p:sp>
      <p:sp>
        <p:nvSpPr>
          <p:cNvPr id="84" name="Shape 82"/>
          <p:cNvSpPr/>
          <p:nvPr/>
        </p:nvSpPr>
        <p:spPr>
          <a:xfrm>
            <a:off x="7059168" y="5989320"/>
            <a:ext cx="4224528" cy="256032"/>
          </a:xfrm>
          <a:prstGeom prst="roundRect">
            <a:avLst>
              <a:gd name="adj" fmla="val 17857"/>
            </a:avLst>
          </a:prstGeom>
          <a:solidFill>
            <a:srgbClr val="DFF3E7"/>
          </a:solidFill>
          <a:ln w="12700">
            <a:solidFill>
              <a:srgbClr val="DFF3E7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114032" y="6044184"/>
            <a:ext cx="4114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1662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automated actions in one orchestrated chain</a:t>
            </a:r>
            <a:endParaRPr lang="en-US" sz="10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43891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31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automate certificate renewal?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172200" y="466344"/>
            <a:ext cx="5440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 today’s pain points directly to the target-state response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49808" y="1170432"/>
            <a:ext cx="1828800" cy="329184"/>
          </a:xfrm>
          <a:prstGeom prst="roundRect">
            <a:avLst>
              <a:gd name="adj" fmla="val 13889"/>
            </a:avLst>
          </a:prstGeom>
          <a:solidFill>
            <a:srgbClr val="AE3B3B"/>
          </a:solidFill>
          <a:ln w="12700">
            <a:solidFill>
              <a:srgbClr val="AE3B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21615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Pain in today’s process</a:t>
            </a:r>
            <a:endParaRPr lang="en-US" sz="1310" dirty="0"/>
          </a:p>
        </p:txBody>
      </p:sp>
      <p:sp>
        <p:nvSpPr>
          <p:cNvPr id="6" name="Shape 4"/>
          <p:cNvSpPr/>
          <p:nvPr/>
        </p:nvSpPr>
        <p:spPr>
          <a:xfrm>
            <a:off x="6446520" y="1170432"/>
            <a:ext cx="2139696" cy="329184"/>
          </a:xfrm>
          <a:prstGeom prst="roundRect">
            <a:avLst>
              <a:gd name="adj" fmla="val 13889"/>
            </a:avLst>
          </a:prstGeom>
          <a:solidFill>
            <a:srgbClr val="1F7A57"/>
          </a:solidFill>
          <a:ln w="12700">
            <a:solidFill>
              <a:srgbClr val="1F7A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46520" y="1216152"/>
            <a:ext cx="2139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Automation response</a:t>
            </a:r>
            <a:endParaRPr lang="en-US" sz="1310" dirty="0"/>
          </a:p>
        </p:txBody>
      </p:sp>
      <p:sp>
        <p:nvSpPr>
          <p:cNvPr id="8" name="Shape 6"/>
          <p:cNvSpPr/>
          <p:nvPr/>
        </p:nvSpPr>
        <p:spPr>
          <a:xfrm>
            <a:off x="5440680" y="1979676"/>
            <a:ext cx="731520" cy="0"/>
          </a:xfrm>
          <a:prstGeom prst="line">
            <a:avLst/>
          </a:prstGeom>
          <a:noFill/>
          <a:ln w="22860">
            <a:solidFill>
              <a:srgbClr val="B9C7D6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49808" y="1627632"/>
            <a:ext cx="4526280" cy="704088"/>
          </a:xfrm>
          <a:prstGeom prst="roundRect">
            <a:avLst>
              <a:gd name="adj" fmla="val 7792"/>
            </a:avLst>
          </a:prstGeom>
          <a:solidFill>
            <a:srgbClr val="FCEBEC"/>
          </a:solidFill>
          <a:ln w="15240">
            <a:solidFill>
              <a:srgbClr val="E6B6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173736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Expiry tracking depends on someone noticing and acting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46520" y="1627632"/>
            <a:ext cx="4617720" cy="704088"/>
          </a:xfrm>
          <a:prstGeom prst="roundRect">
            <a:avLst>
              <a:gd name="adj" fmla="val 7792"/>
            </a:avLst>
          </a:prstGeom>
          <a:solidFill>
            <a:srgbClr val="EAF7F0"/>
          </a:solidFill>
          <a:ln w="15240">
            <a:solidFill>
              <a:srgbClr val="B8E0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47688" y="173736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Scheduled checks in Venafi can detect renewals continuously and consistently</a:t>
            </a:r>
            <a:endParaRPr lang="en-US" sz="1380" dirty="0"/>
          </a:p>
        </p:txBody>
      </p:sp>
      <p:sp>
        <p:nvSpPr>
          <p:cNvPr id="13" name="Shape 11"/>
          <p:cNvSpPr/>
          <p:nvPr/>
        </p:nvSpPr>
        <p:spPr>
          <a:xfrm>
            <a:off x="5440680" y="2848356"/>
            <a:ext cx="731520" cy="0"/>
          </a:xfrm>
          <a:prstGeom prst="line">
            <a:avLst/>
          </a:prstGeom>
          <a:noFill/>
          <a:ln w="22860">
            <a:solidFill>
              <a:srgbClr val="B9C7D6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49808" y="2496312"/>
            <a:ext cx="4526280" cy="704088"/>
          </a:xfrm>
          <a:prstGeom prst="roundRect">
            <a:avLst>
              <a:gd name="adj" fmla="val 7792"/>
            </a:avLst>
          </a:prstGeom>
          <a:solidFill>
            <a:srgbClr val="FCEBEC"/>
          </a:solidFill>
          <a:ln w="15240">
            <a:solidFill>
              <a:srgbClr val="E6B6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0976" y="260604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Renewal requires ticket creation and team-to-team handoff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46520" y="2496312"/>
            <a:ext cx="4617720" cy="704088"/>
          </a:xfrm>
          <a:prstGeom prst="roundRect">
            <a:avLst>
              <a:gd name="adj" fmla="val 7792"/>
            </a:avLst>
          </a:prstGeom>
          <a:solidFill>
            <a:srgbClr val="EAF7F0"/>
          </a:solidFill>
          <a:ln w="15240">
            <a:solidFill>
              <a:srgbClr val="B8E0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47688" y="260604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workflow can create, implement, and close the ServiceNow change automatically</a:t>
            </a:r>
            <a:endParaRPr lang="en-US" sz="1380" dirty="0"/>
          </a:p>
        </p:txBody>
      </p:sp>
      <p:sp>
        <p:nvSpPr>
          <p:cNvPr id="18" name="Shape 16"/>
          <p:cNvSpPr/>
          <p:nvPr/>
        </p:nvSpPr>
        <p:spPr>
          <a:xfrm>
            <a:off x="5440680" y="3717036"/>
            <a:ext cx="731520" cy="0"/>
          </a:xfrm>
          <a:prstGeom prst="line">
            <a:avLst/>
          </a:prstGeom>
          <a:noFill/>
          <a:ln w="22860">
            <a:solidFill>
              <a:srgbClr val="B9C7D6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49808" y="3364992"/>
            <a:ext cx="4526280" cy="704088"/>
          </a:xfrm>
          <a:prstGeom prst="roundRect">
            <a:avLst>
              <a:gd name="adj" fmla="val 7792"/>
            </a:avLst>
          </a:prstGeom>
          <a:solidFill>
            <a:srgbClr val="FCEBEC"/>
          </a:solidFill>
          <a:ln w="15240">
            <a:solidFill>
              <a:srgbClr val="E6B6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0976" y="34747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 is disconnected from renewal, so timing is harder to control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46520" y="3364992"/>
            <a:ext cx="4617720" cy="704088"/>
          </a:xfrm>
          <a:prstGeom prst="roundRect">
            <a:avLst>
              <a:gd name="adj" fmla="val 7792"/>
            </a:avLst>
          </a:prstGeom>
          <a:solidFill>
            <a:srgbClr val="EAF7F0"/>
          </a:solidFill>
          <a:ln w="15240">
            <a:solidFill>
              <a:srgbClr val="B8E0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47688" y="347472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Renewal, download, deployment, and validation can run in one ordered sequence</a:t>
            </a:r>
            <a:endParaRPr lang="en-US" sz="1380" dirty="0"/>
          </a:p>
        </p:txBody>
      </p:sp>
      <p:sp>
        <p:nvSpPr>
          <p:cNvPr id="23" name="Shape 21"/>
          <p:cNvSpPr/>
          <p:nvPr/>
        </p:nvSpPr>
        <p:spPr>
          <a:xfrm>
            <a:off x="5440680" y="4585716"/>
            <a:ext cx="731520" cy="0"/>
          </a:xfrm>
          <a:prstGeom prst="line">
            <a:avLst/>
          </a:prstGeom>
          <a:noFill/>
          <a:ln w="22860">
            <a:solidFill>
              <a:srgbClr val="B9C7D6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49808" y="4233672"/>
            <a:ext cx="4526280" cy="704088"/>
          </a:xfrm>
          <a:prstGeom prst="roundRect">
            <a:avLst>
              <a:gd name="adj" fmla="val 7792"/>
            </a:avLst>
          </a:prstGeom>
          <a:solidFill>
            <a:srgbClr val="FCEBEC"/>
          </a:solidFill>
          <a:ln w="15240">
            <a:solidFill>
              <a:srgbClr val="E6B6B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0976" y="434340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waiting introduces delay and inconsistent execution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46520" y="4233672"/>
            <a:ext cx="4617720" cy="704088"/>
          </a:xfrm>
          <a:prstGeom prst="roundRect">
            <a:avLst>
              <a:gd name="adj" fmla="val 7792"/>
            </a:avLst>
          </a:prstGeom>
          <a:solidFill>
            <a:srgbClr val="EAF7F0"/>
          </a:solidFill>
          <a:ln w="15240">
            <a:solidFill>
              <a:srgbClr val="B8E0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47688" y="434340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workflow can execute the same steps every time with fewer human pauses</a:t>
            </a:r>
            <a:endParaRPr lang="en-US" sz="1380" dirty="0"/>
          </a:p>
        </p:txBody>
      </p:sp>
      <p:sp>
        <p:nvSpPr>
          <p:cNvPr id="28" name="Shape 26"/>
          <p:cNvSpPr/>
          <p:nvPr/>
        </p:nvSpPr>
        <p:spPr>
          <a:xfrm>
            <a:off x="5440680" y="5454396"/>
            <a:ext cx="731520" cy="0"/>
          </a:xfrm>
          <a:prstGeom prst="line">
            <a:avLst/>
          </a:prstGeom>
          <a:noFill/>
          <a:ln w="22860">
            <a:solidFill>
              <a:srgbClr val="B9C7D6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49808" y="5102352"/>
            <a:ext cx="4526280" cy="704088"/>
          </a:xfrm>
          <a:prstGeom prst="roundRect">
            <a:avLst>
              <a:gd name="adj" fmla="val 7792"/>
            </a:avLst>
          </a:prstGeom>
          <a:solidFill>
            <a:srgbClr val="FCEBEC"/>
          </a:solidFill>
          <a:ln w="15240">
            <a:solidFill>
              <a:srgbClr val="E6B6B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50976" y="521208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Visibility comes late, after the work has already moved across teams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446520" y="5102352"/>
            <a:ext cx="4617720" cy="704088"/>
          </a:xfrm>
          <a:prstGeom prst="roundRect">
            <a:avLst>
              <a:gd name="adj" fmla="val 7792"/>
            </a:avLst>
          </a:prstGeom>
          <a:solidFill>
            <a:srgbClr val="EAF7F0"/>
          </a:solidFill>
          <a:ln w="15240">
            <a:solidFill>
              <a:srgbClr val="B8E0C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47688" y="521208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and change records provide a clear deployment trail at the end of each run</a:t>
            </a:r>
            <a:endParaRPr lang="en-US" sz="1380" dirty="0"/>
          </a:p>
        </p:txBody>
      </p:sp>
      <p:sp>
        <p:nvSpPr>
          <p:cNvPr id="33" name="Shape 31"/>
          <p:cNvSpPr/>
          <p:nvPr/>
        </p:nvSpPr>
        <p:spPr>
          <a:xfrm>
            <a:off x="749808" y="5806440"/>
            <a:ext cx="10314432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05840" y="5961888"/>
            <a:ext cx="9829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80" dirty="0">
                <a:solidFill>
                  <a:srgbClr val="425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manual flow adds avoidable coordination overhead, while the automated flow puts the full lifecycle into one governed, repeatable sequence.</a:t>
            </a:r>
            <a:endParaRPr lang="en-US" sz="12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43891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31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Pros and cons of certificate automation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172200" y="466344"/>
            <a:ext cx="5440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Benefits are strongest when paired with operational guardrails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49808" y="11612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302752" y="116128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Considerations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9808" y="1481328"/>
            <a:ext cx="3383280" cy="1060704"/>
          </a:xfrm>
          <a:prstGeom prst="roundRect">
            <a:avLst>
              <a:gd name="adj" fmla="val 5172"/>
            </a:avLst>
          </a:prstGeom>
          <a:solidFill>
            <a:srgbClr val="EDF4FB"/>
          </a:solidFill>
          <a:ln w="13970">
            <a:solidFill>
              <a:srgbClr val="C9DDF1"/>
            </a:solidFill>
            <a:prstDash val="solid"/>
          </a:ln>
          <a:effectLst>
            <a:outerShdw sx="100000" sy="100000" kx="0" ky="0" algn="bl" rotWithShape="0" blurRad="10160" dist="3175" dir="2700000">
              <a:srgbClr val="000000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32688" y="164592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 manual effort</a:t>
            </a:r>
            <a:endParaRPr lang="en-US" sz="1480" dirty="0"/>
          </a:p>
        </p:txBody>
      </p:sp>
      <p:sp>
        <p:nvSpPr>
          <p:cNvPr id="8" name="Text 6"/>
          <p:cNvSpPr/>
          <p:nvPr/>
        </p:nvSpPr>
        <p:spPr>
          <a:xfrm>
            <a:off x="932688" y="1883664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5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Removes repetitive ticketing, clicks, and coordination work.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34256" y="1481328"/>
            <a:ext cx="3383280" cy="1060704"/>
          </a:xfrm>
          <a:prstGeom prst="roundRect">
            <a:avLst>
              <a:gd name="adj" fmla="val 5172"/>
            </a:avLst>
          </a:prstGeom>
          <a:solidFill>
            <a:srgbClr val="EAF7F0"/>
          </a:solidFill>
          <a:ln w="13970">
            <a:solidFill>
              <a:srgbClr val="B8E0C7"/>
            </a:solidFill>
            <a:prstDash val="solid"/>
          </a:ln>
          <a:effectLst>
            <a:outerShdw sx="100000" sy="100000" kx="0" ky="0" algn="bl" rotWithShape="0" blurRad="10160" dist="3175" dir="270000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17136" y="164592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Faster turnaround</a:t>
            </a:r>
            <a:endParaRPr lang="en-US" sz="1480" dirty="0"/>
          </a:p>
        </p:txBody>
      </p:sp>
      <p:sp>
        <p:nvSpPr>
          <p:cNvPr id="11" name="Text 9"/>
          <p:cNvSpPr/>
          <p:nvPr/>
        </p:nvSpPr>
        <p:spPr>
          <a:xfrm>
            <a:off x="4517136" y="1883664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5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Renewal and deployment can move in one execution path.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49808" y="2761488"/>
            <a:ext cx="3383280" cy="1060704"/>
          </a:xfrm>
          <a:prstGeom prst="roundRect">
            <a:avLst>
              <a:gd name="adj" fmla="val 5172"/>
            </a:avLst>
          </a:prstGeom>
          <a:solidFill>
            <a:srgbClr val="F0EDFF"/>
          </a:solidFill>
          <a:ln w="13970">
            <a:solidFill>
              <a:srgbClr val="D6D1FA"/>
            </a:solidFill>
            <a:prstDash val="solid"/>
          </a:ln>
          <a:effectLst>
            <a:outerShdw sx="100000" sy="100000" kx="0" ky="0" algn="bl" rotWithShape="0" blurRad="10160" dist="3175" dir="270000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32688" y="292608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consistency</a:t>
            </a:r>
            <a:endParaRPr lang="en-US" sz="1480" dirty="0"/>
          </a:p>
        </p:txBody>
      </p:sp>
      <p:sp>
        <p:nvSpPr>
          <p:cNvPr id="14" name="Text 12"/>
          <p:cNvSpPr/>
          <p:nvPr/>
        </p:nvSpPr>
        <p:spPr>
          <a:xfrm>
            <a:off x="932688" y="3163824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5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workflow runs the same sequence each time.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34256" y="2761488"/>
            <a:ext cx="3383280" cy="1060704"/>
          </a:xfrm>
          <a:prstGeom prst="roundRect">
            <a:avLst>
              <a:gd name="adj" fmla="val 5172"/>
            </a:avLst>
          </a:prstGeom>
          <a:solidFill>
            <a:srgbClr val="FFF3DF"/>
          </a:solidFill>
          <a:ln w="13970">
            <a:solidFill>
              <a:srgbClr val="F1D2A2"/>
            </a:solidFill>
            <a:prstDash val="solid"/>
          </a:ln>
          <a:effectLst>
            <a:outerShdw sx="100000" sy="100000" kx="0" ky="0" algn="bl" rotWithShape="0" blurRad="10160" dist="3175" dir="2700000">
              <a:srgbClr val="000000">
                <a:alpha val="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17136" y="292608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Better traceability</a:t>
            </a:r>
            <a:endParaRPr lang="en-US" sz="1480" dirty="0"/>
          </a:p>
        </p:txBody>
      </p:sp>
      <p:sp>
        <p:nvSpPr>
          <p:cNvPr id="17" name="Text 15"/>
          <p:cNvSpPr/>
          <p:nvPr/>
        </p:nvSpPr>
        <p:spPr>
          <a:xfrm>
            <a:off x="4517136" y="3163824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5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creation, deployment, validation, and reporting stay linked.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49808" y="4041648"/>
            <a:ext cx="3383280" cy="1060704"/>
          </a:xfrm>
          <a:prstGeom prst="roundRect">
            <a:avLst>
              <a:gd name="adj" fmla="val 5172"/>
            </a:avLst>
          </a:prstGeom>
          <a:solidFill>
            <a:srgbClr val="EDF4FB"/>
          </a:solidFill>
          <a:ln w="13970">
            <a:solidFill>
              <a:srgbClr val="C9DDF1"/>
            </a:solidFill>
            <a:prstDash val="solid"/>
          </a:ln>
          <a:effectLst>
            <a:outerShdw sx="100000" sy="100000" kx="0" ky="0" algn="bl" rotWithShape="0" blurRad="10160" dist="3175" dir="2700000">
              <a:srgbClr val="000000">
                <a:alpha val="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32688" y="4206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scalability</a:t>
            </a:r>
            <a:endParaRPr lang="en-US" sz="1480" dirty="0"/>
          </a:p>
        </p:txBody>
      </p:sp>
      <p:sp>
        <p:nvSpPr>
          <p:cNvPr id="20" name="Text 18"/>
          <p:cNvSpPr/>
          <p:nvPr/>
        </p:nvSpPr>
        <p:spPr>
          <a:xfrm>
            <a:off x="932688" y="4443984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5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pattern can be reused across more certificates and hostnames.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34256" y="4041648"/>
            <a:ext cx="3383280" cy="1060704"/>
          </a:xfrm>
          <a:prstGeom prst="roundRect">
            <a:avLst>
              <a:gd name="adj" fmla="val 5172"/>
            </a:avLst>
          </a:prstGeom>
          <a:solidFill>
            <a:srgbClr val="EAF7F0"/>
          </a:solidFill>
          <a:ln w="13970">
            <a:solidFill>
              <a:srgbClr val="B8E0C7"/>
            </a:solidFill>
            <a:prstDash val="solid"/>
          </a:ln>
          <a:effectLst>
            <a:outerShdw sx="100000" sy="100000" kx="0" ky="0" algn="bl" rotWithShape="0" blurRad="10160" dist="3175" dir="2700000">
              <a:srgbClr val="000000">
                <a:alpha val="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17136" y="4206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Built-in validation</a:t>
            </a:r>
            <a:endParaRPr lang="en-US" sz="1480" dirty="0"/>
          </a:p>
        </p:txBody>
      </p:sp>
      <p:sp>
        <p:nvSpPr>
          <p:cNvPr id="23" name="Text 21"/>
          <p:cNvSpPr/>
          <p:nvPr/>
        </p:nvSpPr>
        <p:spPr>
          <a:xfrm>
            <a:off x="4517136" y="4443984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5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 checks reduce the chance of silent post-renewal issues.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247888" y="1444752"/>
            <a:ext cx="3063240" cy="425196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E5EB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58200" y="1591056"/>
            <a:ext cx="2633472" cy="822960"/>
          </a:xfrm>
          <a:prstGeom prst="roundRect">
            <a:avLst>
              <a:gd name="adj" fmla="val 5556"/>
            </a:avLst>
          </a:prstGeom>
          <a:solidFill>
            <a:srgbClr val="EEF3F7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41080" y="1709928"/>
            <a:ext cx="22128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Upfront engineering</a:t>
            </a:r>
            <a:endParaRPr lang="en-US" sz="1260" dirty="0"/>
          </a:p>
        </p:txBody>
      </p:sp>
      <p:sp>
        <p:nvSpPr>
          <p:cNvPr id="27" name="Text 25"/>
          <p:cNvSpPr/>
          <p:nvPr/>
        </p:nvSpPr>
        <p:spPr>
          <a:xfrm>
            <a:off x="8641080" y="1892808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5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Needs initial workflow, integration, and credential setup.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458200" y="2505456"/>
            <a:ext cx="2633472" cy="822960"/>
          </a:xfrm>
          <a:prstGeom prst="roundRect">
            <a:avLst>
              <a:gd name="adj" fmla="val 5556"/>
            </a:avLst>
          </a:prstGeom>
          <a:solidFill>
            <a:srgbClr val="EEF3F7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41080" y="2624328"/>
            <a:ext cx="22128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Exception handling</a:t>
            </a:r>
            <a:endParaRPr lang="en-US" sz="1260" dirty="0"/>
          </a:p>
        </p:txBody>
      </p:sp>
      <p:sp>
        <p:nvSpPr>
          <p:cNvPr id="30" name="Text 28"/>
          <p:cNvSpPr/>
          <p:nvPr/>
        </p:nvSpPr>
        <p:spPr>
          <a:xfrm>
            <a:off x="8641080" y="2807208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5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Failures, retries, and rollback paths must be designed.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458200" y="3419856"/>
            <a:ext cx="2633472" cy="822960"/>
          </a:xfrm>
          <a:prstGeom prst="roundRect">
            <a:avLst>
              <a:gd name="adj" fmla="val 5556"/>
            </a:avLst>
          </a:prstGeom>
          <a:solidFill>
            <a:srgbClr val="EEF3F7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41080" y="3538728"/>
            <a:ext cx="22128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alignment</a:t>
            </a:r>
            <a:endParaRPr lang="en-US" sz="1260" dirty="0"/>
          </a:p>
        </p:txBody>
      </p:sp>
      <p:sp>
        <p:nvSpPr>
          <p:cNvPr id="33" name="Text 31"/>
          <p:cNvSpPr/>
          <p:nvPr/>
        </p:nvSpPr>
        <p:spPr>
          <a:xfrm>
            <a:off x="8641080" y="3721608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5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Automation still has to respect change and audit controls.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458200" y="4334256"/>
            <a:ext cx="2633472" cy="822960"/>
          </a:xfrm>
          <a:prstGeom prst="roundRect">
            <a:avLst>
              <a:gd name="adj" fmla="val 5556"/>
            </a:avLst>
          </a:prstGeom>
          <a:solidFill>
            <a:srgbClr val="EEF3F7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41080" y="4453128"/>
            <a:ext cx="22128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monitoring</a:t>
            </a:r>
            <a:endParaRPr lang="en-US" sz="1260" dirty="0"/>
          </a:p>
        </p:txBody>
      </p:sp>
      <p:sp>
        <p:nvSpPr>
          <p:cNvPr id="36" name="Text 34"/>
          <p:cNvSpPr/>
          <p:nvPr/>
        </p:nvSpPr>
        <p:spPr>
          <a:xfrm>
            <a:off x="8641080" y="4636008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5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Jobs need logging, alerting, and clear ownership.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430768" y="5888736"/>
            <a:ext cx="2688336" cy="256032"/>
          </a:xfrm>
          <a:prstGeom prst="roundRect">
            <a:avLst>
              <a:gd name="adj" fmla="val 17857"/>
            </a:avLst>
          </a:prstGeom>
          <a:solidFill>
            <a:srgbClr val="EDF4FB"/>
          </a:solidFill>
          <a:ln w="12700">
            <a:solidFill>
              <a:srgbClr val="EDF4F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85632" y="5943600"/>
            <a:ext cx="2578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2441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Mitigate with controls, monitoring, and rollback design</a:t>
            </a:r>
            <a:endParaRPr lang="en-US" sz="10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43891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31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adoption path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172200" y="466344"/>
            <a:ext cx="5440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 in phases so the operating model stays governed as it scales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49808" y="117043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Suggested rollout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081528" y="2441448"/>
            <a:ext cx="182880" cy="0"/>
          </a:xfrm>
          <a:prstGeom prst="line">
            <a:avLst/>
          </a:prstGeom>
          <a:noFill/>
          <a:ln w="22860">
            <a:solidFill>
              <a:srgbClr val="B9C7D6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5641848" y="2441448"/>
            <a:ext cx="182880" cy="0"/>
          </a:xfrm>
          <a:prstGeom prst="line">
            <a:avLst/>
          </a:prstGeom>
          <a:noFill/>
          <a:ln w="22860">
            <a:solidFill>
              <a:srgbClr val="B9C7D6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202168" y="2441448"/>
            <a:ext cx="182880" cy="0"/>
          </a:xfrm>
          <a:prstGeom prst="line">
            <a:avLst/>
          </a:prstGeom>
          <a:noFill/>
          <a:ln w="22860">
            <a:solidFill>
              <a:srgbClr val="B9C7D6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49808" y="1874520"/>
            <a:ext cx="2286000" cy="1143000"/>
          </a:xfrm>
          <a:prstGeom prst="roundRect">
            <a:avLst>
              <a:gd name="adj" fmla="val 5600"/>
            </a:avLst>
          </a:prstGeom>
          <a:solidFill>
            <a:srgbClr val="EDF4FB"/>
          </a:solidFill>
          <a:ln w="15240">
            <a:solidFill>
              <a:srgbClr val="C9DDF1"/>
            </a:solidFill>
            <a:prstDash val="solid"/>
          </a:ln>
          <a:effectLst>
            <a:outerShdw sx="100000" sy="100000" kx="0" ky="0" algn="bl" rotWithShape="0" blurRad="10160" dist="3175" dir="270000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2039112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Pilot</a:t>
            </a:r>
            <a:endParaRPr lang="en-US" sz="1480" dirty="0"/>
          </a:p>
        </p:txBody>
      </p:sp>
      <p:sp>
        <p:nvSpPr>
          <p:cNvPr id="10" name="Text 8"/>
          <p:cNvSpPr/>
          <p:nvPr/>
        </p:nvSpPr>
        <p:spPr>
          <a:xfrm>
            <a:off x="914400" y="2286000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90" dirty="0">
                <a:solidFill>
                  <a:srgbClr val="425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in non-prod with a small set of certificates and target hosts.</a:t>
            </a:r>
            <a:endParaRPr lang="en-US" sz="1190" dirty="0"/>
          </a:p>
        </p:txBody>
      </p:sp>
      <p:sp>
        <p:nvSpPr>
          <p:cNvPr id="11" name="Shape 9"/>
          <p:cNvSpPr/>
          <p:nvPr/>
        </p:nvSpPr>
        <p:spPr>
          <a:xfrm>
            <a:off x="3310128" y="1874520"/>
            <a:ext cx="2286000" cy="1143000"/>
          </a:xfrm>
          <a:prstGeom prst="roundRect">
            <a:avLst>
              <a:gd name="adj" fmla="val 5600"/>
            </a:avLst>
          </a:prstGeom>
          <a:solidFill>
            <a:srgbClr val="EAF7F0"/>
          </a:solidFill>
          <a:ln w="15240">
            <a:solidFill>
              <a:srgbClr val="B8E0C7"/>
            </a:solidFill>
            <a:prstDash val="solid"/>
          </a:ln>
          <a:effectLst>
            <a:outerShdw sx="100000" sy="100000" kx="0" ky="0" algn="bl" rotWithShape="0" blurRad="10160" dist="3175" dir="270000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74720" y="2039112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Validate</a:t>
            </a:r>
            <a:endParaRPr lang="en-US" sz="1480" dirty="0"/>
          </a:p>
        </p:txBody>
      </p:sp>
      <p:sp>
        <p:nvSpPr>
          <p:cNvPr id="13" name="Text 11"/>
          <p:cNvSpPr/>
          <p:nvPr/>
        </p:nvSpPr>
        <p:spPr>
          <a:xfrm>
            <a:off x="3474720" y="2286000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90" dirty="0">
                <a:solidFill>
                  <a:srgbClr val="425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 renewal, deployment, validation, reporting, and change updates end to end.</a:t>
            </a:r>
            <a:endParaRPr lang="en-US" sz="1190" dirty="0"/>
          </a:p>
        </p:txBody>
      </p:sp>
      <p:sp>
        <p:nvSpPr>
          <p:cNvPr id="14" name="Shape 12"/>
          <p:cNvSpPr/>
          <p:nvPr/>
        </p:nvSpPr>
        <p:spPr>
          <a:xfrm>
            <a:off x="5870448" y="1874520"/>
            <a:ext cx="2286000" cy="1143000"/>
          </a:xfrm>
          <a:prstGeom prst="roundRect">
            <a:avLst>
              <a:gd name="adj" fmla="val 5600"/>
            </a:avLst>
          </a:prstGeom>
          <a:solidFill>
            <a:srgbClr val="F0EDFF"/>
          </a:solidFill>
          <a:ln w="15240">
            <a:solidFill>
              <a:srgbClr val="D6D1FA"/>
            </a:solidFill>
            <a:prstDash val="solid"/>
          </a:ln>
          <a:effectLst>
            <a:outerShdw sx="100000" sy="100000" kx="0" ky="0" algn="bl" rotWithShape="0" blurRad="10160" dist="3175" dir="270000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35040" y="2039112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Guardrails</a:t>
            </a:r>
            <a:endParaRPr lang="en-US" sz="1480" dirty="0"/>
          </a:p>
        </p:txBody>
      </p:sp>
      <p:sp>
        <p:nvSpPr>
          <p:cNvPr id="16" name="Text 14"/>
          <p:cNvSpPr/>
          <p:nvPr/>
        </p:nvSpPr>
        <p:spPr>
          <a:xfrm>
            <a:off x="6035040" y="2286000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90" dirty="0">
                <a:solidFill>
                  <a:srgbClr val="425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monitoring, retry logic, rollback paths, and credential controls.</a:t>
            </a:r>
            <a:endParaRPr lang="en-US" sz="1190" dirty="0"/>
          </a:p>
        </p:txBody>
      </p:sp>
      <p:sp>
        <p:nvSpPr>
          <p:cNvPr id="17" name="Shape 15"/>
          <p:cNvSpPr/>
          <p:nvPr/>
        </p:nvSpPr>
        <p:spPr>
          <a:xfrm>
            <a:off x="8430768" y="1874520"/>
            <a:ext cx="2286000" cy="1143000"/>
          </a:xfrm>
          <a:prstGeom prst="roundRect">
            <a:avLst>
              <a:gd name="adj" fmla="val 5600"/>
            </a:avLst>
          </a:prstGeom>
          <a:solidFill>
            <a:srgbClr val="FFF3DF"/>
          </a:solidFill>
          <a:ln w="15240">
            <a:solidFill>
              <a:srgbClr val="F1D2A2"/>
            </a:solidFill>
            <a:prstDash val="solid"/>
          </a:ln>
          <a:effectLst>
            <a:outerShdw sx="100000" sy="100000" kx="0" ky="0" algn="bl" rotWithShape="0" blurRad="10160" dist="3175" dir="2700000">
              <a:srgbClr val="000000">
                <a:alpha val="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595360" y="2039112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Expand</a:t>
            </a:r>
            <a:endParaRPr lang="en-US" sz="1480" dirty="0"/>
          </a:p>
        </p:txBody>
      </p:sp>
      <p:sp>
        <p:nvSpPr>
          <p:cNvPr id="19" name="Text 17"/>
          <p:cNvSpPr/>
          <p:nvPr/>
        </p:nvSpPr>
        <p:spPr>
          <a:xfrm>
            <a:off x="8595360" y="2286000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90" dirty="0">
                <a:solidFill>
                  <a:srgbClr val="425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Roll out to production and broaden certificate coverage with confidence.</a:t>
            </a:r>
            <a:endParaRPr lang="en-US" sz="1190" dirty="0"/>
          </a:p>
        </p:txBody>
      </p:sp>
      <p:sp>
        <p:nvSpPr>
          <p:cNvPr id="20" name="Shape 18"/>
          <p:cNvSpPr/>
          <p:nvPr/>
        </p:nvSpPr>
        <p:spPr>
          <a:xfrm>
            <a:off x="749808" y="3822192"/>
            <a:ext cx="653796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" y="4041648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Operating principles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024128" y="4407408"/>
            <a:ext cx="73152" cy="73152"/>
          </a:xfrm>
          <a:prstGeom prst="ellipse">
            <a:avLst/>
          </a:prstGeom>
          <a:solidFill>
            <a:srgbClr val="1F7A57"/>
          </a:solidFill>
          <a:ln w="12700">
            <a:solidFill>
              <a:srgbClr val="1F7A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88720" y="4361688"/>
            <a:ext cx="5669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425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ServiceNow updates in the workflow for auditability.</a:t>
            </a:r>
            <a:endParaRPr lang="en-US" sz="1180" dirty="0"/>
          </a:p>
        </p:txBody>
      </p:sp>
      <p:sp>
        <p:nvSpPr>
          <p:cNvPr id="24" name="Shape 22"/>
          <p:cNvSpPr/>
          <p:nvPr/>
        </p:nvSpPr>
        <p:spPr>
          <a:xfrm>
            <a:off x="1024128" y="4663440"/>
            <a:ext cx="73152" cy="73152"/>
          </a:xfrm>
          <a:prstGeom prst="ellipse">
            <a:avLst/>
          </a:prstGeom>
          <a:solidFill>
            <a:srgbClr val="1F7A57"/>
          </a:solidFill>
          <a:ln w="12700">
            <a:solidFill>
              <a:srgbClr val="1F7A5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88720" y="4617720"/>
            <a:ext cx="5669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425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the deployed certificate before marking the run complete.</a:t>
            </a:r>
            <a:endParaRPr lang="en-US" sz="1180" dirty="0"/>
          </a:p>
        </p:txBody>
      </p:sp>
      <p:sp>
        <p:nvSpPr>
          <p:cNvPr id="26" name="Shape 24"/>
          <p:cNvSpPr/>
          <p:nvPr/>
        </p:nvSpPr>
        <p:spPr>
          <a:xfrm>
            <a:off x="1024128" y="4919472"/>
            <a:ext cx="73152" cy="73152"/>
          </a:xfrm>
          <a:prstGeom prst="ellipse">
            <a:avLst/>
          </a:prstGeom>
          <a:solidFill>
            <a:srgbClr val="1F7A57"/>
          </a:solidFill>
          <a:ln w="12700">
            <a:solidFill>
              <a:srgbClr val="1F7A5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88720" y="4873752"/>
            <a:ext cx="5669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425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 ownership for monitoring, credential rotation, and exceptions.</a:t>
            </a:r>
            <a:endParaRPr lang="en-US" sz="1180" dirty="0"/>
          </a:p>
        </p:txBody>
      </p:sp>
      <p:sp>
        <p:nvSpPr>
          <p:cNvPr id="28" name="Shape 26"/>
          <p:cNvSpPr/>
          <p:nvPr/>
        </p:nvSpPr>
        <p:spPr>
          <a:xfrm>
            <a:off x="1024128" y="5175504"/>
            <a:ext cx="73152" cy="73152"/>
          </a:xfrm>
          <a:prstGeom prst="ellipse">
            <a:avLst/>
          </a:prstGeom>
          <a:solidFill>
            <a:srgbClr val="1F7A57"/>
          </a:solidFill>
          <a:ln w="12700">
            <a:solidFill>
              <a:srgbClr val="1F7A5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88720" y="5129784"/>
            <a:ext cx="5669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425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manual intervention as the fallback path, not the default.</a:t>
            </a:r>
            <a:endParaRPr lang="en-US" sz="1180" dirty="0"/>
          </a:p>
        </p:txBody>
      </p:sp>
      <p:sp>
        <p:nvSpPr>
          <p:cNvPr id="30" name="Shape 28"/>
          <p:cNvSpPr/>
          <p:nvPr/>
        </p:nvSpPr>
        <p:spPr>
          <a:xfrm>
            <a:off x="7635240" y="3822192"/>
            <a:ext cx="3657600" cy="1572768"/>
          </a:xfrm>
          <a:prstGeom prst="roundRect">
            <a:avLst>
              <a:gd name="adj" fmla="val 4651"/>
            </a:avLst>
          </a:prstGeom>
          <a:solidFill>
            <a:srgbClr val="EAF7F0"/>
          </a:solidFill>
          <a:ln w="15240">
            <a:solidFill>
              <a:srgbClr val="B8E0C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00416" y="405993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7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 state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900416" y="4352544"/>
            <a:ext cx="31455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repeatable renewal pipeline that checks expiry, handles change activity, deploys safely, validates results, and reports completion with far less manual coordination.</a:t>
            </a:r>
            <a:endParaRPr lang="en-US" sz="12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43891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31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2026 delivery timeline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172200" y="466344"/>
            <a:ext cx="5440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Non-prod in Q2, production in Q3, and broad completion by year-end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49808" y="1133856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Quarter-by-quarter plan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645920" y="2670048"/>
            <a:ext cx="2468880" cy="0"/>
          </a:xfrm>
          <a:prstGeom prst="line">
            <a:avLst/>
          </a:prstGeom>
          <a:noFill/>
          <a:ln w="25400">
            <a:solidFill>
              <a:srgbClr val="B9C7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43984" y="2670048"/>
            <a:ext cx="2468880" cy="0"/>
          </a:xfrm>
          <a:prstGeom prst="line">
            <a:avLst/>
          </a:prstGeom>
          <a:noFill/>
          <a:ln w="25400">
            <a:solidFill>
              <a:srgbClr val="B9C7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42048" y="2670048"/>
            <a:ext cx="2468880" cy="0"/>
          </a:xfrm>
          <a:prstGeom prst="line">
            <a:avLst/>
          </a:prstGeom>
          <a:noFill/>
          <a:ln w="25400">
            <a:solidFill>
              <a:srgbClr val="B9C7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16736" y="2505456"/>
            <a:ext cx="329184" cy="329184"/>
          </a:xfrm>
          <a:prstGeom prst="ellipse">
            <a:avLst/>
          </a:prstGeom>
          <a:solidFill>
            <a:srgbClr val="24415E"/>
          </a:solidFill>
          <a:ln w="12700">
            <a:solidFill>
              <a:srgbClr val="2441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1554480"/>
            <a:ext cx="2377440" cy="914400"/>
          </a:xfrm>
          <a:prstGeom prst="roundRect">
            <a:avLst>
              <a:gd name="adj" fmla="val 7000"/>
            </a:avLst>
          </a:prstGeom>
          <a:solidFill>
            <a:srgbClr val="EDF4FB"/>
          </a:solidFill>
          <a:ln w="15240">
            <a:solidFill>
              <a:srgbClr val="C9DD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73736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371600" y="1764792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425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&amp; readiness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749808" y="3072384"/>
            <a:ext cx="237744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96112" y="3346704"/>
            <a:ext cx="64008" cy="64008"/>
          </a:xfrm>
          <a:prstGeom prst="ellipse">
            <a:avLst/>
          </a:prstGeom>
          <a:solidFill>
            <a:srgbClr val="1F7A57"/>
          </a:solidFill>
          <a:ln w="12700">
            <a:solidFill>
              <a:srgbClr val="1F7A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3291840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425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Finalize workflow design</a:t>
            </a:r>
            <a:endParaRPr lang="en-US" sz="1160" dirty="0"/>
          </a:p>
        </p:txBody>
      </p:sp>
      <p:sp>
        <p:nvSpPr>
          <p:cNvPr id="15" name="Shape 13"/>
          <p:cNvSpPr/>
          <p:nvPr/>
        </p:nvSpPr>
        <p:spPr>
          <a:xfrm>
            <a:off x="896112" y="3822192"/>
            <a:ext cx="64008" cy="64008"/>
          </a:xfrm>
          <a:prstGeom prst="ellipse">
            <a:avLst/>
          </a:prstGeom>
          <a:solidFill>
            <a:srgbClr val="1F7A57"/>
          </a:solidFill>
          <a:ln w="12700">
            <a:solidFill>
              <a:srgbClr val="1F7A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4128" y="3767328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425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 up integrations and credentials</a:t>
            </a:r>
            <a:endParaRPr lang="en-US" sz="1160" dirty="0"/>
          </a:p>
        </p:txBody>
      </p:sp>
      <p:sp>
        <p:nvSpPr>
          <p:cNvPr id="17" name="Shape 15"/>
          <p:cNvSpPr/>
          <p:nvPr/>
        </p:nvSpPr>
        <p:spPr>
          <a:xfrm>
            <a:off x="896112" y="4297680"/>
            <a:ext cx="64008" cy="64008"/>
          </a:xfrm>
          <a:prstGeom prst="ellipse">
            <a:avLst/>
          </a:prstGeom>
          <a:solidFill>
            <a:srgbClr val="1F7A57"/>
          </a:solidFill>
          <a:ln w="12700">
            <a:solidFill>
              <a:srgbClr val="1F7A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4128" y="4242816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425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 test certificates and target hosts</a:t>
            </a:r>
            <a:endParaRPr lang="en-US" sz="1160" dirty="0"/>
          </a:p>
        </p:txBody>
      </p:sp>
      <p:sp>
        <p:nvSpPr>
          <p:cNvPr id="19" name="Shape 17"/>
          <p:cNvSpPr/>
          <p:nvPr/>
        </p:nvSpPr>
        <p:spPr>
          <a:xfrm>
            <a:off x="4114800" y="2505456"/>
            <a:ext cx="329184" cy="329184"/>
          </a:xfrm>
          <a:prstGeom prst="ellipse">
            <a:avLst/>
          </a:prstGeom>
          <a:solidFill>
            <a:srgbClr val="24415E"/>
          </a:solidFill>
          <a:ln w="12700">
            <a:solidFill>
              <a:srgbClr val="24415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47872" y="1554480"/>
            <a:ext cx="2377440" cy="914400"/>
          </a:xfrm>
          <a:prstGeom prst="roundRect">
            <a:avLst>
              <a:gd name="adj" fmla="val 7000"/>
            </a:avLst>
          </a:prstGeom>
          <a:solidFill>
            <a:srgbClr val="EAF7F0"/>
          </a:solidFill>
          <a:ln w="15240">
            <a:solidFill>
              <a:srgbClr val="B8E0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12464" y="173736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169664" y="1764792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425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 to non-prod</a:t>
            </a:r>
            <a:endParaRPr lang="en-US" sz="1320" dirty="0"/>
          </a:p>
        </p:txBody>
      </p:sp>
      <p:sp>
        <p:nvSpPr>
          <p:cNvPr id="23" name="Shape 21"/>
          <p:cNvSpPr/>
          <p:nvPr/>
        </p:nvSpPr>
        <p:spPr>
          <a:xfrm>
            <a:off x="3547872" y="3072384"/>
            <a:ext cx="237744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94176" y="3346704"/>
            <a:ext cx="64008" cy="64008"/>
          </a:xfrm>
          <a:prstGeom prst="ellipse">
            <a:avLst/>
          </a:prstGeom>
          <a:solidFill>
            <a:srgbClr val="1F7A57"/>
          </a:solidFill>
          <a:ln w="12700">
            <a:solidFill>
              <a:srgbClr val="1F7A5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22192" y="3291840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425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non-prod renewals end to end</a:t>
            </a:r>
            <a:endParaRPr lang="en-US" sz="1160" dirty="0"/>
          </a:p>
        </p:txBody>
      </p:sp>
      <p:sp>
        <p:nvSpPr>
          <p:cNvPr id="26" name="Shape 24"/>
          <p:cNvSpPr/>
          <p:nvPr/>
        </p:nvSpPr>
        <p:spPr>
          <a:xfrm>
            <a:off x="3694176" y="3822192"/>
            <a:ext cx="64008" cy="64008"/>
          </a:xfrm>
          <a:prstGeom prst="ellipse">
            <a:avLst/>
          </a:prstGeom>
          <a:solidFill>
            <a:srgbClr val="1F7A57"/>
          </a:solidFill>
          <a:ln w="12700">
            <a:solidFill>
              <a:srgbClr val="1F7A5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22192" y="3767328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425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validation, reporting, and rollback</a:t>
            </a:r>
            <a:endParaRPr lang="en-US" sz="1160" dirty="0"/>
          </a:p>
        </p:txBody>
      </p:sp>
      <p:sp>
        <p:nvSpPr>
          <p:cNvPr id="28" name="Shape 26"/>
          <p:cNvSpPr/>
          <p:nvPr/>
        </p:nvSpPr>
        <p:spPr>
          <a:xfrm>
            <a:off x="3694176" y="4297680"/>
            <a:ext cx="64008" cy="64008"/>
          </a:xfrm>
          <a:prstGeom prst="ellipse">
            <a:avLst/>
          </a:prstGeom>
          <a:solidFill>
            <a:srgbClr val="1F7A57"/>
          </a:solidFill>
          <a:ln w="12700">
            <a:solidFill>
              <a:srgbClr val="1F7A5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22192" y="4242816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425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 off for production entry</a:t>
            </a:r>
            <a:endParaRPr lang="en-US" sz="1160" dirty="0"/>
          </a:p>
        </p:txBody>
      </p:sp>
      <p:sp>
        <p:nvSpPr>
          <p:cNvPr id="30" name="Shape 28"/>
          <p:cNvSpPr/>
          <p:nvPr/>
        </p:nvSpPr>
        <p:spPr>
          <a:xfrm>
            <a:off x="6912864" y="2505456"/>
            <a:ext cx="329184" cy="329184"/>
          </a:xfrm>
          <a:prstGeom prst="ellipse">
            <a:avLst/>
          </a:prstGeom>
          <a:solidFill>
            <a:srgbClr val="24415E"/>
          </a:solidFill>
          <a:ln w="12700">
            <a:solidFill>
              <a:srgbClr val="24415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45936" y="1554480"/>
            <a:ext cx="2377440" cy="914400"/>
          </a:xfrm>
          <a:prstGeom prst="roundRect">
            <a:avLst>
              <a:gd name="adj" fmla="val 7000"/>
            </a:avLst>
          </a:prstGeom>
          <a:solidFill>
            <a:srgbClr val="FFF3DF"/>
          </a:solidFill>
          <a:ln w="15240">
            <a:solidFill>
              <a:srgbClr val="F1D2A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10528" y="173736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6967728" y="1764792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425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 to prod</a:t>
            </a:r>
            <a:endParaRPr lang="en-US" sz="1320" dirty="0"/>
          </a:p>
        </p:txBody>
      </p:sp>
      <p:sp>
        <p:nvSpPr>
          <p:cNvPr id="34" name="Shape 32"/>
          <p:cNvSpPr/>
          <p:nvPr/>
        </p:nvSpPr>
        <p:spPr>
          <a:xfrm>
            <a:off x="6345936" y="3072384"/>
            <a:ext cx="237744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92240" y="3346704"/>
            <a:ext cx="64008" cy="64008"/>
          </a:xfrm>
          <a:prstGeom prst="ellipse">
            <a:avLst/>
          </a:prstGeom>
          <a:solidFill>
            <a:srgbClr val="1F7A57"/>
          </a:solidFill>
          <a:ln w="12700">
            <a:solidFill>
              <a:srgbClr val="1F7A5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20256" y="3291840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425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phased production rollout</a:t>
            </a:r>
            <a:endParaRPr lang="en-US" sz="1160" dirty="0"/>
          </a:p>
        </p:txBody>
      </p:sp>
      <p:sp>
        <p:nvSpPr>
          <p:cNvPr id="37" name="Shape 35"/>
          <p:cNvSpPr/>
          <p:nvPr/>
        </p:nvSpPr>
        <p:spPr>
          <a:xfrm>
            <a:off x="6492240" y="3822192"/>
            <a:ext cx="64008" cy="64008"/>
          </a:xfrm>
          <a:prstGeom prst="ellipse">
            <a:avLst/>
          </a:prstGeom>
          <a:solidFill>
            <a:srgbClr val="1F7A57"/>
          </a:solidFill>
          <a:ln w="12700">
            <a:solidFill>
              <a:srgbClr val="1F7A5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20256" y="3767328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425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Onboard priority certificate groups</a:t>
            </a:r>
            <a:endParaRPr lang="en-US" sz="1160" dirty="0"/>
          </a:p>
        </p:txBody>
      </p:sp>
      <p:sp>
        <p:nvSpPr>
          <p:cNvPr id="39" name="Shape 37"/>
          <p:cNvSpPr/>
          <p:nvPr/>
        </p:nvSpPr>
        <p:spPr>
          <a:xfrm>
            <a:off x="6492240" y="4297680"/>
            <a:ext cx="64008" cy="64008"/>
          </a:xfrm>
          <a:prstGeom prst="ellipse">
            <a:avLst/>
          </a:prstGeom>
          <a:solidFill>
            <a:srgbClr val="1F7A57"/>
          </a:solidFill>
          <a:ln w="12700">
            <a:solidFill>
              <a:srgbClr val="1F7A5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20256" y="4242816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425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hypercare and close early gaps</a:t>
            </a:r>
            <a:endParaRPr lang="en-US" sz="1160" dirty="0"/>
          </a:p>
        </p:txBody>
      </p:sp>
      <p:sp>
        <p:nvSpPr>
          <p:cNvPr id="41" name="Shape 39"/>
          <p:cNvSpPr/>
          <p:nvPr/>
        </p:nvSpPr>
        <p:spPr>
          <a:xfrm>
            <a:off x="9710928" y="2505456"/>
            <a:ext cx="329184" cy="329184"/>
          </a:xfrm>
          <a:prstGeom prst="ellipse">
            <a:avLst/>
          </a:prstGeom>
          <a:solidFill>
            <a:srgbClr val="24415E"/>
          </a:solidFill>
          <a:ln w="12700">
            <a:solidFill>
              <a:srgbClr val="24415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144000" y="1554480"/>
            <a:ext cx="2377440" cy="914400"/>
          </a:xfrm>
          <a:prstGeom prst="roundRect">
            <a:avLst>
              <a:gd name="adj" fmla="val 7000"/>
            </a:avLst>
          </a:prstGeom>
          <a:solidFill>
            <a:srgbClr val="F0EDFF"/>
          </a:solidFill>
          <a:ln w="15240">
            <a:solidFill>
              <a:srgbClr val="D6D1F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308592" y="173736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</a:t>
            </a:r>
            <a:endParaRPr lang="en-US" sz="1700" dirty="0"/>
          </a:p>
        </p:txBody>
      </p:sp>
      <p:sp>
        <p:nvSpPr>
          <p:cNvPr id="44" name="Text 42"/>
          <p:cNvSpPr/>
          <p:nvPr/>
        </p:nvSpPr>
        <p:spPr>
          <a:xfrm>
            <a:off x="9765792" y="1764792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425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 by year-end</a:t>
            </a:r>
            <a:endParaRPr lang="en-US" sz="1320" dirty="0"/>
          </a:p>
        </p:txBody>
      </p:sp>
      <p:sp>
        <p:nvSpPr>
          <p:cNvPr id="45" name="Shape 43"/>
          <p:cNvSpPr/>
          <p:nvPr/>
        </p:nvSpPr>
        <p:spPr>
          <a:xfrm>
            <a:off x="9144000" y="3072384"/>
            <a:ext cx="237744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290304" y="3346704"/>
            <a:ext cx="64008" cy="64008"/>
          </a:xfrm>
          <a:prstGeom prst="ellipse">
            <a:avLst/>
          </a:prstGeom>
          <a:solidFill>
            <a:srgbClr val="1F7A57"/>
          </a:solidFill>
          <a:ln w="12700">
            <a:solidFill>
              <a:srgbClr val="1F7A5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418320" y="3291840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425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 remaining coverage</a:t>
            </a:r>
            <a:endParaRPr lang="en-US" sz="1160" dirty="0"/>
          </a:p>
        </p:txBody>
      </p:sp>
      <p:sp>
        <p:nvSpPr>
          <p:cNvPr id="48" name="Shape 46"/>
          <p:cNvSpPr/>
          <p:nvPr/>
        </p:nvSpPr>
        <p:spPr>
          <a:xfrm>
            <a:off x="9290304" y="3822192"/>
            <a:ext cx="64008" cy="64008"/>
          </a:xfrm>
          <a:prstGeom prst="ellipse">
            <a:avLst/>
          </a:prstGeom>
          <a:solidFill>
            <a:srgbClr val="1F7A57"/>
          </a:solidFill>
          <a:ln w="12700">
            <a:solidFill>
              <a:srgbClr val="1F7A5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418320" y="3767328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425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Stabilize dashboards and ownership</a:t>
            </a:r>
            <a:endParaRPr lang="en-US" sz="1160" dirty="0"/>
          </a:p>
        </p:txBody>
      </p:sp>
      <p:sp>
        <p:nvSpPr>
          <p:cNvPr id="50" name="Shape 48"/>
          <p:cNvSpPr/>
          <p:nvPr/>
        </p:nvSpPr>
        <p:spPr>
          <a:xfrm>
            <a:off x="9290304" y="4297680"/>
            <a:ext cx="64008" cy="64008"/>
          </a:xfrm>
          <a:prstGeom prst="ellipse">
            <a:avLst/>
          </a:prstGeom>
          <a:solidFill>
            <a:srgbClr val="1F7A57"/>
          </a:solidFill>
          <a:ln w="12700">
            <a:solidFill>
              <a:srgbClr val="1F7A5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418320" y="4242816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425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Finish outstanding gaps by Dec 2026</a:t>
            </a:r>
            <a:endParaRPr lang="en-US" sz="1160" dirty="0"/>
          </a:p>
        </p:txBody>
      </p:sp>
      <p:sp>
        <p:nvSpPr>
          <p:cNvPr id="52" name="Shape 50"/>
          <p:cNvSpPr/>
          <p:nvPr/>
        </p:nvSpPr>
        <p:spPr>
          <a:xfrm>
            <a:off x="749808" y="5449824"/>
            <a:ext cx="10771632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0120" y="5605272"/>
            <a:ext cx="10378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25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message: prove the automation safely in non-prod during Q2, take it into production in Q3, and use Q4 to finish coverage, stabilize operations, and complete the year-end rollout.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43891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31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Readiness gates by phase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172200" y="466344"/>
            <a:ext cx="5440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must be true before moving from non-prod to prod and then to year-end completion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49808" y="1353312"/>
            <a:ext cx="3383280" cy="4553712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0976" y="1572768"/>
            <a:ext cx="2980944" cy="402336"/>
          </a:xfrm>
          <a:prstGeom prst="roundRect">
            <a:avLst>
              <a:gd name="adj" fmla="val 13636"/>
            </a:avLst>
          </a:prstGeom>
          <a:solidFill>
            <a:srgbClr val="EAF7F0"/>
          </a:solidFill>
          <a:ln w="15240">
            <a:solidFill>
              <a:srgbClr val="B8E0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1691640"/>
            <a:ext cx="2980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 non-prod exit</a:t>
            </a:r>
            <a:endParaRPr lang="en-US" sz="1340" dirty="0"/>
          </a:p>
        </p:txBody>
      </p:sp>
      <p:sp>
        <p:nvSpPr>
          <p:cNvPr id="7" name="Shape 5"/>
          <p:cNvSpPr/>
          <p:nvPr/>
        </p:nvSpPr>
        <p:spPr>
          <a:xfrm>
            <a:off x="969264" y="2359152"/>
            <a:ext cx="73152" cy="73152"/>
          </a:xfrm>
          <a:prstGeom prst="ellipse">
            <a:avLst/>
          </a:prstGeom>
          <a:solidFill>
            <a:srgbClr val="1F7A57"/>
          </a:solidFill>
          <a:ln w="12700">
            <a:solidFill>
              <a:srgbClr val="1F7A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2267712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25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Renewal works end to end in non-prod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969264" y="3145536"/>
            <a:ext cx="73152" cy="73152"/>
          </a:xfrm>
          <a:prstGeom prst="ellipse">
            <a:avLst/>
          </a:prstGeom>
          <a:solidFill>
            <a:srgbClr val="1F7A57"/>
          </a:solidFill>
          <a:ln w="12700">
            <a:solidFill>
              <a:srgbClr val="1F7A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3054096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25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 validation passes on target hosts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969264" y="3931920"/>
            <a:ext cx="73152" cy="73152"/>
          </a:xfrm>
          <a:prstGeom prst="ellipse">
            <a:avLst/>
          </a:prstGeom>
          <a:solidFill>
            <a:srgbClr val="1F7A57"/>
          </a:solidFill>
          <a:ln w="12700">
            <a:solidFill>
              <a:srgbClr val="1F7A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5568" y="3840480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25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Rollback and failure paths are tested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969264" y="4718304"/>
            <a:ext cx="73152" cy="73152"/>
          </a:xfrm>
          <a:prstGeom prst="ellipse">
            <a:avLst/>
          </a:prstGeom>
          <a:solidFill>
            <a:srgbClr val="1F7A57"/>
          </a:solidFill>
          <a:ln w="12700">
            <a:solidFill>
              <a:srgbClr val="1F7A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15568" y="4626864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25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ServiceNow updates and reporting are correct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4407408" y="1353312"/>
            <a:ext cx="3383280" cy="4553712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08576" y="1572768"/>
            <a:ext cx="2980944" cy="402336"/>
          </a:xfrm>
          <a:prstGeom prst="roundRect">
            <a:avLst>
              <a:gd name="adj" fmla="val 13636"/>
            </a:avLst>
          </a:prstGeom>
          <a:solidFill>
            <a:srgbClr val="FFF3DF"/>
          </a:solidFill>
          <a:ln w="15240">
            <a:solidFill>
              <a:srgbClr val="F1D2A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08576" y="1691640"/>
            <a:ext cx="2980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 prod entry</a:t>
            </a:r>
            <a:endParaRPr lang="en-US" sz="1340" dirty="0"/>
          </a:p>
        </p:txBody>
      </p:sp>
      <p:sp>
        <p:nvSpPr>
          <p:cNvPr id="18" name="Shape 16"/>
          <p:cNvSpPr/>
          <p:nvPr/>
        </p:nvSpPr>
        <p:spPr>
          <a:xfrm>
            <a:off x="4626864" y="2359152"/>
            <a:ext cx="73152" cy="73152"/>
          </a:xfrm>
          <a:prstGeom prst="ellipse">
            <a:avLst/>
          </a:prstGeom>
          <a:solidFill>
            <a:srgbClr val="1F7A57"/>
          </a:solidFill>
          <a:ln w="12700">
            <a:solidFill>
              <a:srgbClr val="1F7A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3168" y="2267712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25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 production certificates are identified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4626864" y="3145536"/>
            <a:ext cx="73152" cy="73152"/>
          </a:xfrm>
          <a:prstGeom prst="ellipse">
            <a:avLst/>
          </a:prstGeom>
          <a:solidFill>
            <a:srgbClr val="1F7A57"/>
          </a:solidFill>
          <a:ln w="12700">
            <a:solidFill>
              <a:srgbClr val="1F7A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3054096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25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Credentials and approvals are in place</a:t>
            </a:r>
            <a:endParaRPr lang="en-US" sz="1220" dirty="0"/>
          </a:p>
        </p:txBody>
      </p:sp>
      <p:sp>
        <p:nvSpPr>
          <p:cNvPr id="22" name="Shape 20"/>
          <p:cNvSpPr/>
          <p:nvPr/>
        </p:nvSpPr>
        <p:spPr>
          <a:xfrm>
            <a:off x="4626864" y="3931920"/>
            <a:ext cx="73152" cy="73152"/>
          </a:xfrm>
          <a:prstGeom prst="ellipse">
            <a:avLst/>
          </a:prstGeom>
          <a:solidFill>
            <a:srgbClr val="1F7A57"/>
          </a:solidFill>
          <a:ln w="12700">
            <a:solidFill>
              <a:srgbClr val="1F7A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73168" y="3840480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25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Monitoring, alerting, and ownership are assigned</a:t>
            </a:r>
            <a:endParaRPr lang="en-US" sz="1220" dirty="0"/>
          </a:p>
        </p:txBody>
      </p:sp>
      <p:sp>
        <p:nvSpPr>
          <p:cNvPr id="24" name="Shape 22"/>
          <p:cNvSpPr/>
          <p:nvPr/>
        </p:nvSpPr>
        <p:spPr>
          <a:xfrm>
            <a:off x="4626864" y="4718304"/>
            <a:ext cx="73152" cy="73152"/>
          </a:xfrm>
          <a:prstGeom prst="ellipse">
            <a:avLst/>
          </a:prstGeom>
          <a:solidFill>
            <a:srgbClr val="1F7A57"/>
          </a:solidFill>
          <a:ln w="12700">
            <a:solidFill>
              <a:srgbClr val="1F7A5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73168" y="4626864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25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Runbooks exist for exception handling</a:t>
            </a:r>
            <a:endParaRPr lang="en-US" sz="1220" dirty="0"/>
          </a:p>
        </p:txBody>
      </p:sp>
      <p:sp>
        <p:nvSpPr>
          <p:cNvPr id="26" name="Shape 24"/>
          <p:cNvSpPr/>
          <p:nvPr/>
        </p:nvSpPr>
        <p:spPr>
          <a:xfrm>
            <a:off x="8065008" y="1353312"/>
            <a:ext cx="3383280" cy="4553712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66176" y="1572768"/>
            <a:ext cx="2980944" cy="402336"/>
          </a:xfrm>
          <a:prstGeom prst="roundRect">
            <a:avLst>
              <a:gd name="adj" fmla="val 13636"/>
            </a:avLst>
          </a:prstGeom>
          <a:solidFill>
            <a:srgbClr val="F0EDFF"/>
          </a:solidFill>
          <a:ln w="15240">
            <a:solidFill>
              <a:srgbClr val="D6D1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66176" y="1691640"/>
            <a:ext cx="2980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 year-end completion</a:t>
            </a:r>
            <a:endParaRPr lang="en-US" sz="1340" dirty="0"/>
          </a:p>
        </p:txBody>
      </p:sp>
      <p:sp>
        <p:nvSpPr>
          <p:cNvPr id="29" name="Shape 27"/>
          <p:cNvSpPr/>
          <p:nvPr/>
        </p:nvSpPr>
        <p:spPr>
          <a:xfrm>
            <a:off x="8284464" y="2359152"/>
            <a:ext cx="73152" cy="73152"/>
          </a:xfrm>
          <a:prstGeom prst="ellipse">
            <a:avLst/>
          </a:prstGeom>
          <a:solidFill>
            <a:srgbClr val="1F7A57"/>
          </a:solidFill>
          <a:ln w="12700">
            <a:solidFill>
              <a:srgbClr val="1F7A5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30768" y="2267712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25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certificate population is onboarded</a:t>
            </a:r>
            <a:endParaRPr lang="en-US" sz="1220" dirty="0"/>
          </a:p>
        </p:txBody>
      </p:sp>
      <p:sp>
        <p:nvSpPr>
          <p:cNvPr id="31" name="Shape 29"/>
          <p:cNvSpPr/>
          <p:nvPr/>
        </p:nvSpPr>
        <p:spPr>
          <a:xfrm>
            <a:off x="8284464" y="3145536"/>
            <a:ext cx="73152" cy="73152"/>
          </a:xfrm>
          <a:prstGeom prst="ellipse">
            <a:avLst/>
          </a:prstGeom>
          <a:solidFill>
            <a:srgbClr val="1F7A57"/>
          </a:solidFill>
          <a:ln w="12700">
            <a:solidFill>
              <a:srgbClr val="1F7A5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30768" y="3054096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25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Dashboards and reporting are steady-state</a:t>
            </a:r>
            <a:endParaRPr lang="en-US" sz="1220" dirty="0"/>
          </a:p>
        </p:txBody>
      </p:sp>
      <p:sp>
        <p:nvSpPr>
          <p:cNvPr id="33" name="Shape 31"/>
          <p:cNvSpPr/>
          <p:nvPr/>
        </p:nvSpPr>
        <p:spPr>
          <a:xfrm>
            <a:off x="8284464" y="3931920"/>
            <a:ext cx="73152" cy="73152"/>
          </a:xfrm>
          <a:prstGeom prst="ellipse">
            <a:avLst/>
          </a:prstGeom>
          <a:solidFill>
            <a:srgbClr val="1F7A57"/>
          </a:solidFill>
          <a:ln w="12700">
            <a:solidFill>
              <a:srgbClr val="1F7A5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30768" y="3840480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25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defects and gaps are closed</a:t>
            </a:r>
            <a:endParaRPr lang="en-US" sz="1220" dirty="0"/>
          </a:p>
        </p:txBody>
      </p:sp>
      <p:sp>
        <p:nvSpPr>
          <p:cNvPr id="35" name="Shape 33"/>
          <p:cNvSpPr/>
          <p:nvPr/>
        </p:nvSpPr>
        <p:spPr>
          <a:xfrm>
            <a:off x="8284464" y="4718304"/>
            <a:ext cx="73152" cy="73152"/>
          </a:xfrm>
          <a:prstGeom prst="ellipse">
            <a:avLst/>
          </a:prstGeom>
          <a:solidFill>
            <a:srgbClr val="1F7A57"/>
          </a:solidFill>
          <a:ln w="12700">
            <a:solidFill>
              <a:srgbClr val="1F7A5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30768" y="4626864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25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model is handed to operations</a:t>
            </a:r>
            <a:endParaRPr lang="en-US" sz="1220" dirty="0"/>
          </a:p>
        </p:txBody>
      </p:sp>
      <p:sp>
        <p:nvSpPr>
          <p:cNvPr id="37" name="Shape 35"/>
          <p:cNvSpPr/>
          <p:nvPr/>
        </p:nvSpPr>
        <p:spPr>
          <a:xfrm>
            <a:off x="3529584" y="6089904"/>
            <a:ext cx="5120640" cy="256032"/>
          </a:xfrm>
          <a:prstGeom prst="roundRect">
            <a:avLst>
              <a:gd name="adj" fmla="val 17857"/>
            </a:avLst>
          </a:prstGeom>
          <a:solidFill>
            <a:srgbClr val="EDF4FB"/>
          </a:solidFill>
          <a:ln w="12700">
            <a:solidFill>
              <a:srgbClr val="EDF4F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84448" y="6144768"/>
            <a:ext cx="5010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2441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phase gates the next: prove, approve, expand, and close</a:t>
            </a:r>
            <a:endParaRPr lang="en-US" sz="10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43891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31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summary and next steps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172200" y="466344"/>
            <a:ext cx="5440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plan to align owners, timeline, and the decisions needed to stay on track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49808" y="113385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this deck is asking for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49808" y="1536192"/>
            <a:ext cx="4663440" cy="987552"/>
          </a:xfrm>
          <a:prstGeom prst="roundRect">
            <a:avLst>
              <a:gd name="adj" fmla="val 6481"/>
            </a:avLst>
          </a:prstGeom>
          <a:solidFill>
            <a:srgbClr val="EDF4FB"/>
          </a:solidFill>
          <a:ln w="15240">
            <a:solidFill>
              <a:srgbClr val="C9DDF1"/>
            </a:solidFill>
            <a:prstDash val="solid"/>
          </a:ln>
          <a:effectLst>
            <a:outerShdw sx="100000" sy="100000" kx="0" ky="0" algn="bl" rotWithShape="0" blurRad="10160" dist="3175" dir="27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32688" y="1682496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0" b="1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the phased plan</a:t>
            </a:r>
            <a:endParaRPr lang="en-US" sz="1460" dirty="0"/>
          </a:p>
        </p:txBody>
      </p:sp>
      <p:sp>
        <p:nvSpPr>
          <p:cNvPr id="7" name="Text 5"/>
          <p:cNvSpPr/>
          <p:nvPr/>
        </p:nvSpPr>
        <p:spPr>
          <a:xfrm>
            <a:off x="932688" y="192024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5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Proceed with Q2 non-prod deployment, Q3 production rollout, and Q4 completion.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89320" y="1536192"/>
            <a:ext cx="4663440" cy="987552"/>
          </a:xfrm>
          <a:prstGeom prst="roundRect">
            <a:avLst>
              <a:gd name="adj" fmla="val 6481"/>
            </a:avLst>
          </a:prstGeom>
          <a:solidFill>
            <a:srgbClr val="EAF7F0"/>
          </a:solidFill>
          <a:ln w="15240">
            <a:solidFill>
              <a:srgbClr val="B8E0C7"/>
            </a:solidFill>
            <a:prstDash val="solid"/>
          </a:ln>
          <a:effectLst>
            <a:outerShdw sx="100000" sy="100000" kx="0" ky="0" algn="bl" rotWithShape="0" blurRad="10160" dist="3175" dir="270000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172200" y="1682496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0" b="1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ownership</a:t>
            </a:r>
            <a:endParaRPr lang="en-US" sz="1460" dirty="0"/>
          </a:p>
        </p:txBody>
      </p:sp>
      <p:sp>
        <p:nvSpPr>
          <p:cNvPr id="10" name="Text 8"/>
          <p:cNvSpPr/>
          <p:nvPr/>
        </p:nvSpPr>
        <p:spPr>
          <a:xfrm>
            <a:off x="6172200" y="192024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5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 owners for Ansible workflow, Venafi integration, ServiceNow flow, and production support.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49808" y="2862072"/>
            <a:ext cx="4663440" cy="987552"/>
          </a:xfrm>
          <a:prstGeom prst="roundRect">
            <a:avLst>
              <a:gd name="adj" fmla="val 6481"/>
            </a:avLst>
          </a:prstGeom>
          <a:solidFill>
            <a:srgbClr val="FFF3DF"/>
          </a:solidFill>
          <a:ln w="15240">
            <a:solidFill>
              <a:srgbClr val="F1D2A2"/>
            </a:solidFill>
            <a:prstDash val="solid"/>
          </a:ln>
          <a:effectLst>
            <a:outerShdw sx="100000" sy="100000" kx="0" ky="0" algn="bl" rotWithShape="0" blurRad="10160" dist="3175" dir="270000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32688" y="3008376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0" b="1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Prioritize target scope</a:t>
            </a:r>
            <a:endParaRPr lang="en-US" sz="1460" dirty="0"/>
          </a:p>
        </p:txBody>
      </p:sp>
      <p:sp>
        <p:nvSpPr>
          <p:cNvPr id="13" name="Text 11"/>
          <p:cNvSpPr/>
          <p:nvPr/>
        </p:nvSpPr>
        <p:spPr>
          <a:xfrm>
            <a:off x="932688" y="324612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5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Agree which certificate groups and hostnames are included in the first production waves.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89320" y="2862072"/>
            <a:ext cx="4663440" cy="987552"/>
          </a:xfrm>
          <a:prstGeom prst="roundRect">
            <a:avLst>
              <a:gd name="adj" fmla="val 6481"/>
            </a:avLst>
          </a:prstGeom>
          <a:solidFill>
            <a:srgbClr val="F0EDFF"/>
          </a:solidFill>
          <a:ln w="15240">
            <a:solidFill>
              <a:srgbClr val="D6D1FA"/>
            </a:solidFill>
            <a:prstDash val="solid"/>
          </a:ln>
          <a:effectLst>
            <a:outerShdw sx="100000" sy="100000" kx="0" ky="0" algn="bl" rotWithShape="0" blurRad="10160" dist="3175" dir="270000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72200" y="3008376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0" b="1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to year-end</a:t>
            </a:r>
            <a:endParaRPr lang="en-US" sz="1460" dirty="0"/>
          </a:p>
        </p:txBody>
      </p:sp>
      <p:sp>
        <p:nvSpPr>
          <p:cNvPr id="16" name="Text 14"/>
          <p:cNvSpPr/>
          <p:nvPr/>
        </p:nvSpPr>
        <p:spPr>
          <a:xfrm>
            <a:off x="6172200" y="324612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5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progress by quarter and use readiness gates to manage risk before each move.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49808" y="4736592"/>
            <a:ext cx="106070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4882896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Bottom line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2331720" y="4828032"/>
            <a:ext cx="8641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425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Certificate automation is worth adopting because it removes manual coordination from renewal and deployment. A phased rollout lets the team prove the workflow in Q2, scale it into production in Q3, and complete the broader transition by the end of 2026.</a:t>
            </a:r>
            <a:endParaRPr lang="en-US" sz="12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43891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31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Detailed execution workflow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172200" y="466344"/>
            <a:ext cx="5440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End-to-end flow including shared failure handling, incident creation, and IHS retry approval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1051560" y="1618488"/>
            <a:ext cx="182880" cy="0"/>
          </a:xfrm>
          <a:prstGeom prst="line">
            <a:avLst/>
          </a:prstGeom>
          <a:noFill/>
          <a:ln w="19050">
            <a:solidFill>
              <a:srgbClr val="8EA2B8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2404872" y="1618488"/>
            <a:ext cx="246888" cy="0"/>
          </a:xfrm>
          <a:prstGeom prst="line">
            <a:avLst/>
          </a:prstGeom>
          <a:noFill/>
          <a:ln w="19050">
            <a:solidFill>
              <a:srgbClr val="8EA2B8"/>
            </a:solidFill>
            <a:prstDash val="solid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1874520" y="1170432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5B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passed / renewal required</a:t>
            </a:r>
            <a:endParaRPr lang="en-US" sz="940" dirty="0"/>
          </a:p>
        </p:txBody>
      </p:sp>
      <p:sp>
        <p:nvSpPr>
          <p:cNvPr id="7" name="Shape 5"/>
          <p:cNvSpPr/>
          <p:nvPr/>
        </p:nvSpPr>
        <p:spPr>
          <a:xfrm>
            <a:off x="1819656" y="1892808"/>
            <a:ext cx="0" cy="438912"/>
          </a:xfrm>
          <a:prstGeom prst="line">
            <a:avLst/>
          </a:prstGeom>
          <a:noFill/>
          <a:ln w="19050">
            <a:solidFill>
              <a:srgbClr val="AE3B3B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1051560" y="1993392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AE3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precheck failed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3639312" y="1618488"/>
            <a:ext cx="128016" cy="0"/>
          </a:xfrm>
          <a:prstGeom prst="line">
            <a:avLst/>
          </a:prstGeom>
          <a:noFill/>
          <a:ln w="19050">
            <a:solidFill>
              <a:srgbClr val="8EA2B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818888" y="1618488"/>
            <a:ext cx="137160" cy="0"/>
          </a:xfrm>
          <a:prstGeom prst="line">
            <a:avLst/>
          </a:prstGeom>
          <a:noFill/>
          <a:ln w="19050">
            <a:solidFill>
              <a:srgbClr val="8EA2B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797296" y="1618488"/>
            <a:ext cx="146304" cy="0"/>
          </a:xfrm>
          <a:prstGeom prst="line">
            <a:avLst/>
          </a:prstGeom>
          <a:noFill/>
          <a:ln w="19050">
            <a:solidFill>
              <a:srgbClr val="1F7A57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967728" y="1618488"/>
            <a:ext cx="237744" cy="0"/>
          </a:xfrm>
          <a:prstGeom prst="line">
            <a:avLst/>
          </a:prstGeom>
          <a:noFill/>
          <a:ln w="19050">
            <a:solidFill>
              <a:srgbClr val="1F7A57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065008" y="1618488"/>
            <a:ext cx="118872" cy="0"/>
          </a:xfrm>
          <a:prstGeom prst="line">
            <a:avLst/>
          </a:prstGeom>
          <a:noFill/>
          <a:ln w="19050">
            <a:solidFill>
              <a:srgbClr val="1F7A57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354312" y="1618488"/>
            <a:ext cx="137160" cy="0"/>
          </a:xfrm>
          <a:prstGeom prst="line">
            <a:avLst/>
          </a:prstGeom>
          <a:noFill/>
          <a:ln w="19050">
            <a:solidFill>
              <a:srgbClr val="1F7A57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0588752" y="1618488"/>
            <a:ext cx="182880" cy="0"/>
          </a:xfrm>
          <a:prstGeom prst="line">
            <a:avLst/>
          </a:prstGeom>
          <a:noFill/>
          <a:ln w="19050">
            <a:solidFill>
              <a:srgbClr val="1F7A57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376672" y="1819656"/>
            <a:ext cx="0" cy="667512"/>
          </a:xfrm>
          <a:prstGeom prst="line">
            <a:avLst/>
          </a:prstGeom>
          <a:noFill/>
          <a:ln w="19050">
            <a:solidFill>
              <a:srgbClr val="AE3B3B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4526280" y="2011680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AE3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renew failed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6455664" y="1819656"/>
            <a:ext cx="0" cy="667512"/>
          </a:xfrm>
          <a:prstGeom prst="line">
            <a:avLst/>
          </a:prstGeom>
          <a:noFill/>
          <a:ln w="19050">
            <a:solidFill>
              <a:srgbClr val="AE3B3B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5486400" y="2011680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AE3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keystore deploy failed</a:t>
            </a:r>
            <a:endParaRPr lang="en-US" sz="940" dirty="0"/>
          </a:p>
        </p:txBody>
      </p:sp>
      <p:sp>
        <p:nvSpPr>
          <p:cNvPr id="20" name="Shape 18"/>
          <p:cNvSpPr/>
          <p:nvPr/>
        </p:nvSpPr>
        <p:spPr>
          <a:xfrm>
            <a:off x="7635240" y="1819656"/>
            <a:ext cx="0" cy="667512"/>
          </a:xfrm>
          <a:prstGeom prst="line">
            <a:avLst/>
          </a:prstGeom>
          <a:noFill/>
          <a:ln w="19050">
            <a:solidFill>
              <a:srgbClr val="AE3B3B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7296912" y="2011680"/>
            <a:ext cx="868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AE3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IHS deploy failed</a:t>
            </a:r>
            <a:endParaRPr lang="en-US" sz="940" dirty="0"/>
          </a:p>
        </p:txBody>
      </p:sp>
      <p:sp>
        <p:nvSpPr>
          <p:cNvPr id="22" name="Shape 20"/>
          <p:cNvSpPr/>
          <p:nvPr/>
        </p:nvSpPr>
        <p:spPr>
          <a:xfrm>
            <a:off x="5038344" y="3163824"/>
            <a:ext cx="0" cy="292608"/>
          </a:xfrm>
          <a:prstGeom prst="line">
            <a:avLst/>
          </a:prstGeom>
          <a:noFill/>
          <a:ln w="19050">
            <a:solidFill>
              <a:srgbClr val="AE3B3B"/>
            </a:solidFill>
            <a:prstDash val="solid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5038344" y="3456432"/>
            <a:ext cx="-228600" cy="0"/>
          </a:xfrm>
          <a:prstGeom prst="line">
            <a:avLst/>
          </a:prstGeom>
          <a:noFill/>
          <a:ln w="19050">
            <a:solidFill>
              <a:srgbClr val="AE3B3B"/>
            </a:solidFill>
            <a:prstDash val="solid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4809744" y="3456432"/>
            <a:ext cx="0" cy="246888"/>
          </a:xfrm>
          <a:prstGeom prst="line">
            <a:avLst/>
          </a:prstGeom>
          <a:noFill/>
          <a:ln w="19050">
            <a:solidFill>
              <a:srgbClr val="AE3B3B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592824" y="3163824"/>
            <a:ext cx="0" cy="292608"/>
          </a:xfrm>
          <a:prstGeom prst="line">
            <a:avLst/>
          </a:prstGeom>
          <a:noFill/>
          <a:ln w="19050">
            <a:solidFill>
              <a:srgbClr val="AE3B3B"/>
            </a:solidFill>
            <a:prstDash val="solid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6592824" y="3456432"/>
            <a:ext cx="-1783080" cy="0"/>
          </a:xfrm>
          <a:prstGeom prst="line">
            <a:avLst/>
          </a:prstGeom>
          <a:noFill/>
          <a:ln w="19050">
            <a:solidFill>
              <a:srgbClr val="AE3B3B"/>
            </a:solidFill>
            <a:prstDash val="solid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5321808" y="3931920"/>
            <a:ext cx="137160" cy="0"/>
          </a:xfrm>
          <a:prstGeom prst="line">
            <a:avLst/>
          </a:prstGeom>
          <a:noFill/>
          <a:ln w="19050">
            <a:solidFill>
              <a:srgbClr val="E6A23C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300216" y="3931920"/>
            <a:ext cx="137160" cy="0"/>
          </a:xfrm>
          <a:prstGeom prst="line">
            <a:avLst/>
          </a:prstGeom>
          <a:noFill/>
          <a:ln w="19050">
            <a:solidFill>
              <a:srgbClr val="E6A23C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607808" y="3931920"/>
            <a:ext cx="137160" cy="0"/>
          </a:xfrm>
          <a:prstGeom prst="line">
            <a:avLst/>
          </a:prstGeom>
          <a:noFill/>
          <a:ln w="19050">
            <a:solidFill>
              <a:srgbClr val="E6A23C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823960" y="3931920"/>
            <a:ext cx="137160" cy="0"/>
          </a:xfrm>
          <a:prstGeom prst="line">
            <a:avLst/>
          </a:prstGeom>
          <a:noFill/>
          <a:ln w="19050">
            <a:solidFill>
              <a:srgbClr val="E6A23C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8129016" y="3163824"/>
            <a:ext cx="0" cy="1243584"/>
          </a:xfrm>
          <a:prstGeom prst="line">
            <a:avLst/>
          </a:prstGeom>
          <a:noFill/>
          <a:ln w="19050">
            <a:solidFill>
              <a:srgbClr val="AE3B3B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8339328" y="4636008"/>
            <a:ext cx="137160" cy="0"/>
          </a:xfrm>
          <a:prstGeom prst="line">
            <a:avLst/>
          </a:prstGeom>
          <a:noFill/>
          <a:ln w="19050">
            <a:solidFill>
              <a:srgbClr val="E6A23C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9317736" y="4636008"/>
            <a:ext cx="137160" cy="0"/>
          </a:xfrm>
          <a:prstGeom prst="line">
            <a:avLst/>
          </a:prstGeom>
          <a:noFill/>
          <a:ln w="19050">
            <a:solidFill>
              <a:srgbClr val="E6A23C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10012680" y="4864608"/>
            <a:ext cx="0" cy="502920"/>
          </a:xfrm>
          <a:prstGeom prst="line">
            <a:avLst/>
          </a:prstGeom>
          <a:noFill/>
          <a:ln w="19050">
            <a:solidFill>
              <a:srgbClr val="E6A23C"/>
            </a:solidFill>
            <a:prstDash val="solid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10012680" y="5367528"/>
            <a:ext cx="-1307592" cy="0"/>
          </a:xfrm>
          <a:prstGeom prst="line">
            <a:avLst/>
          </a:prstGeom>
          <a:noFill/>
          <a:ln w="19050">
            <a:solidFill>
              <a:srgbClr val="E6A23C"/>
            </a:solidFill>
            <a:prstDash val="solid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8705088" y="5367528"/>
            <a:ext cx="0" cy="-228600"/>
          </a:xfrm>
          <a:prstGeom prst="line">
            <a:avLst/>
          </a:prstGeom>
          <a:noFill/>
          <a:ln w="19050">
            <a:solidFill>
              <a:srgbClr val="E6A23C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9162288" y="5367528"/>
            <a:ext cx="182880" cy="0"/>
          </a:xfrm>
          <a:prstGeom prst="line">
            <a:avLst/>
          </a:prstGeom>
          <a:noFill/>
          <a:ln w="19050">
            <a:solidFill>
              <a:srgbClr val="6457C6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9848088" y="5596128"/>
            <a:ext cx="0" cy="91440"/>
          </a:xfrm>
          <a:prstGeom prst="line">
            <a:avLst/>
          </a:prstGeom>
          <a:noFill/>
          <a:ln w="19050">
            <a:solidFill>
              <a:srgbClr val="1F7A57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9272016" y="5916168"/>
            <a:ext cx="182880" cy="0"/>
          </a:xfrm>
          <a:prstGeom prst="line">
            <a:avLst/>
          </a:prstGeom>
          <a:noFill/>
          <a:ln w="19050">
            <a:solidFill>
              <a:srgbClr val="1F7A57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10588752" y="5916168"/>
            <a:ext cx="182880" cy="0"/>
          </a:xfrm>
          <a:prstGeom prst="line">
            <a:avLst/>
          </a:prstGeom>
          <a:noFill/>
          <a:ln w="19050">
            <a:solidFill>
              <a:srgbClr val="1F7A57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10351008" y="5367528"/>
            <a:ext cx="182880" cy="0"/>
          </a:xfrm>
          <a:prstGeom prst="line">
            <a:avLst/>
          </a:prstGeom>
          <a:noFill/>
          <a:ln w="19050">
            <a:solidFill>
              <a:srgbClr val="AE3B3B"/>
            </a:solidFill>
            <a:prstDash val="solid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10058400" y="4919472"/>
            <a:ext cx="868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AE3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retry failure</a:t>
            </a:r>
            <a:endParaRPr lang="en-US" sz="940" dirty="0"/>
          </a:p>
        </p:txBody>
      </p:sp>
      <p:sp>
        <p:nvSpPr>
          <p:cNvPr id="43" name="Shape 41"/>
          <p:cNvSpPr/>
          <p:nvPr/>
        </p:nvSpPr>
        <p:spPr>
          <a:xfrm>
            <a:off x="11109960" y="5596128"/>
            <a:ext cx="0" cy="548640"/>
          </a:xfrm>
          <a:prstGeom prst="line">
            <a:avLst/>
          </a:prstGeom>
          <a:noFill/>
          <a:ln w="19050">
            <a:solidFill>
              <a:srgbClr val="AE3B3B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411480" y="1417320"/>
            <a:ext cx="640080" cy="402336"/>
          </a:xfrm>
          <a:prstGeom prst="roundRect">
            <a:avLst>
              <a:gd name="adj" fmla="val 11364"/>
            </a:avLst>
          </a:prstGeom>
          <a:solidFill>
            <a:srgbClr val="EDF4FB"/>
          </a:solidFill>
          <a:ln w="13970">
            <a:solidFill>
              <a:srgbClr val="C9DDF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6344" y="1463040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234440" y="1344168"/>
            <a:ext cx="1170432" cy="548640"/>
          </a:xfrm>
          <a:prstGeom prst="roundRect">
            <a:avLst>
              <a:gd name="adj" fmla="val 8333"/>
            </a:avLst>
          </a:prstGeom>
          <a:solidFill>
            <a:srgbClr val="EDF4FB"/>
          </a:solidFill>
          <a:ln w="13970">
            <a:solidFill>
              <a:srgbClr val="C9DDF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289304" y="1389888"/>
            <a:ext cx="1060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Precheck certificate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b="1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renewal</a:t>
            </a:r>
            <a:endParaRPr lang="en-US" sz="1080" dirty="0"/>
          </a:p>
        </p:txBody>
      </p:sp>
      <p:sp>
        <p:nvSpPr>
          <p:cNvPr id="48" name="Shape 46"/>
          <p:cNvSpPr/>
          <p:nvPr/>
        </p:nvSpPr>
        <p:spPr>
          <a:xfrm>
            <a:off x="1417320" y="2331720"/>
            <a:ext cx="822960" cy="402336"/>
          </a:xfrm>
          <a:prstGeom prst="roundRect">
            <a:avLst>
              <a:gd name="adj" fmla="val 11364"/>
            </a:avLst>
          </a:prstGeom>
          <a:solidFill>
            <a:srgbClr val="FCEBEC"/>
          </a:solidFill>
          <a:ln w="13970">
            <a:solidFill>
              <a:srgbClr val="E6B6B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472184" y="2377440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 End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2651760" y="1417320"/>
            <a:ext cx="987552" cy="402336"/>
          </a:xfrm>
          <a:prstGeom prst="roundRect">
            <a:avLst>
              <a:gd name="adj" fmla="val 11364"/>
            </a:avLst>
          </a:prstGeom>
          <a:solidFill>
            <a:srgbClr val="EDF4FB"/>
          </a:solidFill>
          <a:ln w="13970">
            <a:solidFill>
              <a:srgbClr val="C9DDF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706624" y="1463040"/>
            <a:ext cx="877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Raise change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b="1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</a:t>
            </a:r>
            <a:endParaRPr lang="en-US" sz="1080" dirty="0"/>
          </a:p>
        </p:txBody>
      </p:sp>
      <p:sp>
        <p:nvSpPr>
          <p:cNvPr id="52" name="Shape 50"/>
          <p:cNvSpPr/>
          <p:nvPr/>
        </p:nvSpPr>
        <p:spPr>
          <a:xfrm>
            <a:off x="3767328" y="1417320"/>
            <a:ext cx="1051560" cy="402336"/>
          </a:xfrm>
          <a:prstGeom prst="roundRect">
            <a:avLst>
              <a:gd name="adj" fmla="val 11364"/>
            </a:avLst>
          </a:prstGeom>
          <a:solidFill>
            <a:srgbClr val="EDF4FB"/>
          </a:solidFill>
          <a:ln w="13970">
            <a:solidFill>
              <a:srgbClr val="C9DDF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822192" y="1463040"/>
            <a:ext cx="941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 change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b="1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</a:t>
            </a:r>
            <a:endParaRPr lang="en-US" sz="1080" dirty="0"/>
          </a:p>
        </p:txBody>
      </p:sp>
      <p:sp>
        <p:nvSpPr>
          <p:cNvPr id="54" name="Shape 52"/>
          <p:cNvSpPr/>
          <p:nvPr/>
        </p:nvSpPr>
        <p:spPr>
          <a:xfrm>
            <a:off x="4956048" y="1417320"/>
            <a:ext cx="841248" cy="402336"/>
          </a:xfrm>
          <a:prstGeom prst="roundRect">
            <a:avLst>
              <a:gd name="adj" fmla="val 11364"/>
            </a:avLst>
          </a:prstGeom>
          <a:solidFill>
            <a:srgbClr val="EAF7F0"/>
          </a:solidFill>
          <a:ln w="13970">
            <a:solidFill>
              <a:srgbClr val="B8E0C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10912" y="146304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Renew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b="1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certificate</a:t>
            </a:r>
            <a:endParaRPr lang="en-US" sz="1080" dirty="0"/>
          </a:p>
        </p:txBody>
      </p:sp>
      <p:sp>
        <p:nvSpPr>
          <p:cNvPr id="56" name="Shape 54"/>
          <p:cNvSpPr/>
          <p:nvPr/>
        </p:nvSpPr>
        <p:spPr>
          <a:xfrm>
            <a:off x="5943600" y="1417320"/>
            <a:ext cx="1024128" cy="402336"/>
          </a:xfrm>
          <a:prstGeom prst="roundRect">
            <a:avLst>
              <a:gd name="adj" fmla="val 11364"/>
            </a:avLst>
          </a:prstGeom>
          <a:solidFill>
            <a:srgbClr val="EAF7F0"/>
          </a:solidFill>
          <a:ln w="13970">
            <a:solidFill>
              <a:srgbClr val="B8E0C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998464" y="146304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 certificate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keystore to server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7205472" y="1417320"/>
            <a:ext cx="859536" cy="402336"/>
          </a:xfrm>
          <a:prstGeom prst="roundRect">
            <a:avLst>
              <a:gd name="adj" fmla="val 11364"/>
            </a:avLst>
          </a:prstGeom>
          <a:solidFill>
            <a:srgbClr val="EAF7F0"/>
          </a:solidFill>
          <a:ln w="13970">
            <a:solidFill>
              <a:srgbClr val="B8E0C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260336" y="1463040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 certificate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IHS server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8183880" y="1344168"/>
            <a:ext cx="1170432" cy="548640"/>
          </a:xfrm>
          <a:prstGeom prst="roundRect">
            <a:avLst>
              <a:gd name="adj" fmla="val 8333"/>
            </a:avLst>
          </a:prstGeom>
          <a:solidFill>
            <a:srgbClr val="EAF7F0"/>
          </a:solidFill>
          <a:ln w="13970">
            <a:solidFill>
              <a:srgbClr val="B8E0C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238744" y="1389888"/>
            <a:ext cx="1060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 change request</a:t>
            </a:r>
            <a:endParaRPr lang="en-US" sz="960" dirty="0"/>
          </a:p>
          <a:p>
            <a:pPr algn="ctr" indent="0" marL="0">
              <a:buNone/>
            </a:pPr>
            <a:r>
              <a:rPr lang="en-US" sz="960" b="1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 successful</a:t>
            </a:r>
            <a:endParaRPr lang="en-US" sz="960" dirty="0"/>
          </a:p>
          <a:p>
            <a:pPr algn="ctr" indent="0" marL="0">
              <a:buNone/>
            </a:pPr>
            <a:r>
              <a:rPr lang="en-US" sz="960" b="1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success info</a:t>
            </a:r>
            <a:endParaRPr lang="en-US" sz="960" dirty="0"/>
          </a:p>
        </p:txBody>
      </p:sp>
      <p:sp>
        <p:nvSpPr>
          <p:cNvPr id="62" name="Shape 60"/>
          <p:cNvSpPr/>
          <p:nvPr/>
        </p:nvSpPr>
        <p:spPr>
          <a:xfrm>
            <a:off x="9491472" y="1417320"/>
            <a:ext cx="1097280" cy="402336"/>
          </a:xfrm>
          <a:prstGeom prst="roundRect">
            <a:avLst>
              <a:gd name="adj" fmla="val 11364"/>
            </a:avLst>
          </a:prstGeom>
          <a:solidFill>
            <a:srgbClr val="EAF7F0"/>
          </a:solidFill>
          <a:ln w="13970">
            <a:solidFill>
              <a:srgbClr val="B8E0C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546336" y="1463040"/>
            <a:ext cx="987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Send success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notification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10771632" y="1417320"/>
            <a:ext cx="548640" cy="402336"/>
          </a:xfrm>
          <a:prstGeom prst="roundRect">
            <a:avLst>
              <a:gd name="adj" fmla="val 11364"/>
            </a:avLst>
          </a:prstGeom>
          <a:solidFill>
            <a:srgbClr val="EDF4FB"/>
          </a:solidFill>
          <a:ln w="13970">
            <a:solidFill>
              <a:srgbClr val="C9DDF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0826496" y="1463040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4389120" y="2487168"/>
            <a:ext cx="1298448" cy="676656"/>
          </a:xfrm>
          <a:prstGeom prst="roundRect">
            <a:avLst>
              <a:gd name="adj" fmla="val 6757"/>
            </a:avLst>
          </a:prstGeom>
          <a:solidFill>
            <a:srgbClr val="FCEBEC"/>
          </a:solidFill>
          <a:ln w="13970">
            <a:solidFill>
              <a:srgbClr val="E6B6B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443984" y="2532888"/>
            <a:ext cx="1188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Failure node</a:t>
            </a:r>
            <a:endParaRPr lang="en-US" sz="960" dirty="0"/>
          </a:p>
          <a:p>
            <a:pPr algn="ctr" indent="0" marL="0">
              <a:buNone/>
            </a:pPr>
            <a:r>
              <a:rPr lang="en-US" sz="960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 status unsuccessful</a:t>
            </a:r>
            <a:endParaRPr lang="en-US" sz="960" dirty="0"/>
          </a:p>
          <a:p>
            <a:pPr algn="ctr" indent="0" marL="0">
              <a:buNone/>
            </a:pPr>
            <a:r>
              <a:rPr lang="en-US" sz="960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renew failure info</a:t>
            </a:r>
            <a:endParaRPr lang="en-US" sz="960" dirty="0"/>
          </a:p>
        </p:txBody>
      </p:sp>
      <p:sp>
        <p:nvSpPr>
          <p:cNvPr id="68" name="Shape 66"/>
          <p:cNvSpPr/>
          <p:nvPr/>
        </p:nvSpPr>
        <p:spPr>
          <a:xfrm>
            <a:off x="5897880" y="2487168"/>
            <a:ext cx="1389888" cy="676656"/>
          </a:xfrm>
          <a:prstGeom prst="roundRect">
            <a:avLst>
              <a:gd name="adj" fmla="val 6757"/>
            </a:avLst>
          </a:prstGeom>
          <a:solidFill>
            <a:srgbClr val="FCEBEC"/>
          </a:solidFill>
          <a:ln w="13970">
            <a:solidFill>
              <a:srgbClr val="E6B6B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952744" y="2532888"/>
            <a:ext cx="1280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Failure node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 status unsuccessful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keystore deployment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failure info</a:t>
            </a:r>
            <a:endParaRPr lang="en-US" sz="920" dirty="0"/>
          </a:p>
        </p:txBody>
      </p:sp>
      <p:sp>
        <p:nvSpPr>
          <p:cNvPr id="70" name="Shape 68"/>
          <p:cNvSpPr/>
          <p:nvPr/>
        </p:nvSpPr>
        <p:spPr>
          <a:xfrm>
            <a:off x="7479792" y="2487168"/>
            <a:ext cx="1298448" cy="676656"/>
          </a:xfrm>
          <a:prstGeom prst="roundRect">
            <a:avLst>
              <a:gd name="adj" fmla="val 6757"/>
            </a:avLst>
          </a:prstGeom>
          <a:solidFill>
            <a:srgbClr val="FCEBEC"/>
          </a:solidFill>
          <a:ln w="13970">
            <a:solidFill>
              <a:srgbClr val="E6B6B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534656" y="2532888"/>
            <a:ext cx="1188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Failure node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 status unsuccessful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IHS deployment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failure info</a:t>
            </a:r>
            <a:endParaRPr lang="en-US" sz="920" dirty="0"/>
          </a:p>
        </p:txBody>
      </p:sp>
      <p:sp>
        <p:nvSpPr>
          <p:cNvPr id="72" name="Shape 70"/>
          <p:cNvSpPr/>
          <p:nvPr/>
        </p:nvSpPr>
        <p:spPr>
          <a:xfrm>
            <a:off x="4297680" y="3703320"/>
            <a:ext cx="1024128" cy="457200"/>
          </a:xfrm>
          <a:prstGeom prst="roundRect">
            <a:avLst>
              <a:gd name="adj" fmla="val 10000"/>
            </a:avLst>
          </a:prstGeom>
          <a:solidFill>
            <a:srgbClr val="FFF3DF"/>
          </a:solidFill>
          <a:ln w="13970">
            <a:solidFill>
              <a:srgbClr val="F1D2A2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352544" y="3749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 change request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 unsuccessful</a:t>
            </a:r>
            <a:endParaRPr lang="en-US" sz="940" dirty="0"/>
          </a:p>
        </p:txBody>
      </p:sp>
      <p:sp>
        <p:nvSpPr>
          <p:cNvPr id="74" name="Shape 72"/>
          <p:cNvSpPr/>
          <p:nvPr/>
        </p:nvSpPr>
        <p:spPr>
          <a:xfrm>
            <a:off x="5458968" y="3703320"/>
            <a:ext cx="841248" cy="457200"/>
          </a:xfrm>
          <a:prstGeom prst="roundRect">
            <a:avLst>
              <a:gd name="adj" fmla="val 10000"/>
            </a:avLst>
          </a:prstGeom>
          <a:solidFill>
            <a:srgbClr val="FFF3DF"/>
          </a:solidFill>
          <a:ln w="13970">
            <a:solidFill>
              <a:srgbClr val="F1D2A2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513832" y="37490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Raise incident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6437376" y="3703320"/>
            <a:ext cx="1170432" cy="457200"/>
          </a:xfrm>
          <a:prstGeom prst="roundRect">
            <a:avLst>
              <a:gd name="adj" fmla="val 10000"/>
            </a:avLst>
          </a:prstGeom>
          <a:solidFill>
            <a:srgbClr val="FFF3DF"/>
          </a:solidFill>
          <a:ln w="13970">
            <a:solidFill>
              <a:srgbClr val="F1D2A2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492240" y="3749040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 change request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incident details</a:t>
            </a:r>
            <a:endParaRPr lang="en-US" sz="920" dirty="0"/>
          </a:p>
        </p:txBody>
      </p:sp>
      <p:sp>
        <p:nvSpPr>
          <p:cNvPr id="78" name="Shape 76"/>
          <p:cNvSpPr/>
          <p:nvPr/>
        </p:nvSpPr>
        <p:spPr>
          <a:xfrm>
            <a:off x="7744968" y="3703320"/>
            <a:ext cx="1078992" cy="457200"/>
          </a:xfrm>
          <a:prstGeom prst="roundRect">
            <a:avLst>
              <a:gd name="adj" fmla="val 10000"/>
            </a:avLst>
          </a:prstGeom>
          <a:solidFill>
            <a:srgbClr val="FFF3DF"/>
          </a:solidFill>
          <a:ln w="13970">
            <a:solidFill>
              <a:srgbClr val="F1D2A2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799832" y="3749040"/>
            <a:ext cx="969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Send failure</a:t>
            </a:r>
            <a:endParaRPr lang="en-US" sz="960" dirty="0"/>
          </a:p>
          <a:p>
            <a:pPr algn="ctr" indent="0" marL="0">
              <a:buNone/>
            </a:pPr>
            <a:r>
              <a:rPr lang="en-US" sz="960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notification</a:t>
            </a:r>
            <a:endParaRPr lang="en-US" sz="960" dirty="0"/>
          </a:p>
        </p:txBody>
      </p:sp>
      <p:sp>
        <p:nvSpPr>
          <p:cNvPr id="80" name="Shape 78"/>
          <p:cNvSpPr/>
          <p:nvPr/>
        </p:nvSpPr>
        <p:spPr>
          <a:xfrm>
            <a:off x="8961120" y="3730752"/>
            <a:ext cx="502920" cy="402336"/>
          </a:xfrm>
          <a:prstGeom prst="roundRect">
            <a:avLst>
              <a:gd name="adj" fmla="val 11364"/>
            </a:avLst>
          </a:prstGeom>
          <a:solidFill>
            <a:srgbClr val="EDF4FB"/>
          </a:solidFill>
          <a:ln w="13970">
            <a:solidFill>
              <a:srgbClr val="C9DDF1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9015984" y="3776472"/>
            <a:ext cx="393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</a:t>
            </a:r>
            <a:endParaRPr lang="en-US" sz="1080" dirty="0"/>
          </a:p>
        </p:txBody>
      </p:sp>
      <p:sp>
        <p:nvSpPr>
          <p:cNvPr id="82" name="Shape 80"/>
          <p:cNvSpPr/>
          <p:nvPr/>
        </p:nvSpPr>
        <p:spPr>
          <a:xfrm>
            <a:off x="7315200" y="4407408"/>
            <a:ext cx="1024128" cy="457200"/>
          </a:xfrm>
          <a:prstGeom prst="roundRect">
            <a:avLst>
              <a:gd name="adj" fmla="val 10000"/>
            </a:avLst>
          </a:prstGeom>
          <a:solidFill>
            <a:srgbClr val="FFF3DF"/>
          </a:solidFill>
          <a:ln w="13970">
            <a:solidFill>
              <a:srgbClr val="F1D2A2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370064" y="445312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 change request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 unsuccessful</a:t>
            </a:r>
            <a:endParaRPr lang="en-US" sz="920" dirty="0"/>
          </a:p>
        </p:txBody>
      </p:sp>
      <p:sp>
        <p:nvSpPr>
          <p:cNvPr id="84" name="Shape 82"/>
          <p:cNvSpPr/>
          <p:nvPr/>
        </p:nvSpPr>
        <p:spPr>
          <a:xfrm>
            <a:off x="8476488" y="4407408"/>
            <a:ext cx="841248" cy="457200"/>
          </a:xfrm>
          <a:prstGeom prst="roundRect">
            <a:avLst>
              <a:gd name="adj" fmla="val 10000"/>
            </a:avLst>
          </a:prstGeom>
          <a:solidFill>
            <a:srgbClr val="FFF3DF"/>
          </a:solidFill>
          <a:ln w="13970">
            <a:solidFill>
              <a:srgbClr val="F1D2A2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8531352" y="445312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Raise incident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9454896" y="4407408"/>
            <a:ext cx="1115568" cy="457200"/>
          </a:xfrm>
          <a:prstGeom prst="roundRect">
            <a:avLst>
              <a:gd name="adj" fmla="val 10000"/>
            </a:avLst>
          </a:prstGeom>
          <a:solidFill>
            <a:srgbClr val="FFF3DF"/>
          </a:solidFill>
          <a:ln w="13970">
            <a:solidFill>
              <a:srgbClr val="F1D2A2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9509760" y="445312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 change request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incident details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8247888" y="5138928"/>
            <a:ext cx="914400" cy="457200"/>
          </a:xfrm>
          <a:prstGeom prst="roundRect">
            <a:avLst>
              <a:gd name="adj" fmla="val 10000"/>
            </a:avLst>
          </a:prstGeom>
          <a:solidFill>
            <a:srgbClr val="F0EDFF"/>
          </a:solidFill>
          <a:ln w="13970">
            <a:solidFill>
              <a:srgbClr val="D6D1FA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8302752" y="5184648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Approval gate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9345168" y="5138928"/>
            <a:ext cx="1005840" cy="457200"/>
          </a:xfrm>
          <a:prstGeom prst="roundRect">
            <a:avLst>
              <a:gd name="adj" fmla="val 10000"/>
            </a:avLst>
          </a:prstGeom>
          <a:solidFill>
            <a:srgbClr val="F0EDFF"/>
          </a:solidFill>
          <a:ln w="13970">
            <a:solidFill>
              <a:srgbClr val="D6D1FA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9400032" y="5184648"/>
            <a:ext cx="896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Retry failed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IHS nodes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10533888" y="5138928"/>
            <a:ext cx="1152144" cy="457200"/>
          </a:xfrm>
          <a:prstGeom prst="roundRect">
            <a:avLst>
              <a:gd name="adj" fmla="val 10000"/>
            </a:avLst>
          </a:prstGeom>
          <a:solidFill>
            <a:srgbClr val="FCEBEC"/>
          </a:solidFill>
          <a:ln w="13970">
            <a:solidFill>
              <a:srgbClr val="E6B6B8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0588752" y="5184648"/>
            <a:ext cx="1042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Send failure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notification to team</a:t>
            </a:r>
            <a:endParaRPr lang="en-US" sz="940" dirty="0"/>
          </a:p>
        </p:txBody>
      </p:sp>
      <p:sp>
        <p:nvSpPr>
          <p:cNvPr id="94" name="Shape 92"/>
          <p:cNvSpPr/>
          <p:nvPr/>
        </p:nvSpPr>
        <p:spPr>
          <a:xfrm>
            <a:off x="8339328" y="5687568"/>
            <a:ext cx="932688" cy="457200"/>
          </a:xfrm>
          <a:prstGeom prst="roundRect">
            <a:avLst>
              <a:gd name="adj" fmla="val 10000"/>
            </a:avLst>
          </a:prstGeom>
          <a:solidFill>
            <a:srgbClr val="EAF7F0"/>
          </a:solidFill>
          <a:ln w="13970">
            <a:solidFill>
              <a:srgbClr val="B8E0C7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8394192" y="573328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 incident</a:t>
            </a:r>
            <a:endParaRPr lang="en-US" sz="1000" dirty="0"/>
          </a:p>
        </p:txBody>
      </p:sp>
      <p:sp>
        <p:nvSpPr>
          <p:cNvPr id="96" name="Shape 94"/>
          <p:cNvSpPr/>
          <p:nvPr/>
        </p:nvSpPr>
        <p:spPr>
          <a:xfrm>
            <a:off x="9454896" y="5687568"/>
            <a:ext cx="1133856" cy="457200"/>
          </a:xfrm>
          <a:prstGeom prst="roundRect">
            <a:avLst>
              <a:gd name="adj" fmla="val 10000"/>
            </a:avLst>
          </a:prstGeom>
          <a:solidFill>
            <a:srgbClr val="EAF7F0"/>
          </a:solidFill>
          <a:ln w="13970">
            <a:solidFill>
              <a:srgbClr val="B8E0C7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9509760" y="5733288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Send success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notification to team</a:t>
            </a:r>
            <a:endParaRPr lang="en-US" sz="940" dirty="0"/>
          </a:p>
        </p:txBody>
      </p:sp>
      <p:sp>
        <p:nvSpPr>
          <p:cNvPr id="98" name="Shape 96"/>
          <p:cNvSpPr/>
          <p:nvPr/>
        </p:nvSpPr>
        <p:spPr>
          <a:xfrm>
            <a:off x="10771632" y="5715000"/>
            <a:ext cx="502920" cy="402336"/>
          </a:xfrm>
          <a:prstGeom prst="roundRect">
            <a:avLst>
              <a:gd name="adj" fmla="val 11364"/>
            </a:avLst>
          </a:prstGeom>
          <a:solidFill>
            <a:srgbClr val="EDF4FB"/>
          </a:solidFill>
          <a:ln w="13970">
            <a:solidFill>
              <a:srgbClr val="C9DDF1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10826496" y="5760720"/>
            <a:ext cx="393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</a:t>
            </a:r>
            <a:endParaRPr lang="en-US" sz="1080" dirty="0"/>
          </a:p>
        </p:txBody>
      </p:sp>
      <p:sp>
        <p:nvSpPr>
          <p:cNvPr id="100" name="Shape 98"/>
          <p:cNvSpPr/>
          <p:nvPr/>
        </p:nvSpPr>
        <p:spPr>
          <a:xfrm>
            <a:off x="11384280" y="6144768"/>
            <a:ext cx="502920" cy="402336"/>
          </a:xfrm>
          <a:prstGeom prst="roundRect">
            <a:avLst>
              <a:gd name="adj" fmla="val 11364"/>
            </a:avLst>
          </a:prstGeom>
          <a:solidFill>
            <a:srgbClr val="EDF4FB"/>
          </a:solidFill>
          <a:ln w="13970">
            <a:solidFill>
              <a:srgbClr val="C9DDF1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1439144" y="6190488"/>
            <a:ext cx="393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2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</a:t>
            </a:r>
            <a:endParaRPr lang="en-US" sz="10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Certificate Renewal Automation Plan</dc:title>
  <dc:subject>Certificate renewal automation plan</dc:subject>
  <dc:creator>OpenAI</dc:creator>
  <cp:lastModifiedBy>OpenAI</cp:lastModifiedBy>
  <cp:revision>1</cp:revision>
  <dcterms:created xsi:type="dcterms:W3CDTF">2026-03-14T03:16:40Z</dcterms:created>
  <dcterms:modified xsi:type="dcterms:W3CDTF">2026-03-14T03:16:40Z</dcterms:modified>
</cp:coreProperties>
</file>